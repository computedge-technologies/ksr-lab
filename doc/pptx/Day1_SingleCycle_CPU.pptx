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0959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02A3A"/>
          </a:solidFill>
          <a:ln w="12700">
            <a:solidFill>
              <a:srgbClr val="10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0" y="0"/>
            <a:ext cx="45720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64008" cy="64008"/>
          </a:xfrm>
          <a:prstGeom prst="ellipse">
            <a:avLst/>
          </a:prstGeom>
          <a:solidFill>
            <a:srgbClr val="00C896">
              <a:alpha val="45000"/>
            </a:srgbClr>
          </a:solidFill>
          <a:ln w="12700">
            <a:solidFill>
              <a:srgbClr val="00C896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548640"/>
            <a:ext cx="64008" cy="64008"/>
          </a:xfrm>
          <a:prstGeom prst="ellipse">
            <a:avLst/>
          </a:prstGeom>
          <a:solidFill>
            <a:srgbClr val="00C896">
              <a:alpha val="45000"/>
            </a:srgbClr>
          </a:solidFill>
          <a:ln w="12700">
            <a:solidFill>
              <a:srgbClr val="00C896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64008" cy="64008"/>
          </a:xfrm>
          <a:prstGeom prst="ellipse">
            <a:avLst/>
          </a:prstGeom>
          <a:solidFill>
            <a:srgbClr val="00C896">
              <a:alpha val="45000"/>
            </a:srgbClr>
          </a:solidFill>
          <a:ln w="12700">
            <a:solidFill>
              <a:srgbClr val="00C896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365760"/>
            <a:ext cx="64008" cy="64008"/>
          </a:xfrm>
          <a:prstGeom prst="ellipse">
            <a:avLst/>
          </a:prstGeom>
          <a:solidFill>
            <a:srgbClr val="00C896">
              <a:alpha val="45000"/>
            </a:srgbClr>
          </a:solidFill>
          <a:ln w="12700">
            <a:solidFill>
              <a:srgbClr val="00C896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914400"/>
            <a:ext cx="64008" cy="64008"/>
          </a:xfrm>
          <a:prstGeom prst="ellipse">
            <a:avLst/>
          </a:prstGeom>
          <a:solidFill>
            <a:srgbClr val="00C896">
              <a:alpha val="45000"/>
            </a:srgbClr>
          </a:solidFill>
          <a:ln w="12700">
            <a:solidFill>
              <a:srgbClr val="00C896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1645920"/>
            <a:ext cx="64008" cy="64008"/>
          </a:xfrm>
          <a:prstGeom prst="ellipse">
            <a:avLst/>
          </a:prstGeom>
          <a:solidFill>
            <a:srgbClr val="00C896">
              <a:alpha val="45000"/>
            </a:srgbClr>
          </a:solidFill>
          <a:ln w="12700">
            <a:solidFill>
              <a:srgbClr val="00C896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11680"/>
            <a:ext cx="64008" cy="64008"/>
          </a:xfrm>
          <a:prstGeom prst="ellipse">
            <a:avLst/>
          </a:prstGeom>
          <a:solidFill>
            <a:srgbClr val="00C896">
              <a:alpha val="45000"/>
            </a:srgbClr>
          </a:solidFill>
          <a:ln w="12700">
            <a:solidFill>
              <a:srgbClr val="00C896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1828800"/>
            <a:ext cx="64008" cy="64008"/>
          </a:xfrm>
          <a:prstGeom prst="ellipse">
            <a:avLst/>
          </a:prstGeom>
          <a:solidFill>
            <a:srgbClr val="00C896">
              <a:alpha val="45000"/>
            </a:srgbClr>
          </a:solidFill>
          <a:ln w="12700">
            <a:solidFill>
              <a:srgbClr val="00C896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731520"/>
            <a:ext cx="64008" cy="64008"/>
          </a:xfrm>
          <a:prstGeom prst="ellipse">
            <a:avLst/>
          </a:prstGeom>
          <a:solidFill>
            <a:srgbClr val="00C896">
              <a:alpha val="45000"/>
            </a:srgbClr>
          </a:solidFill>
          <a:ln w="12700">
            <a:solidFill>
              <a:srgbClr val="00C896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2468880"/>
            <a:ext cx="64008" cy="64008"/>
          </a:xfrm>
          <a:prstGeom prst="ellipse">
            <a:avLst/>
          </a:prstGeom>
          <a:solidFill>
            <a:srgbClr val="00C896">
              <a:alpha val="45000"/>
            </a:srgbClr>
          </a:solidFill>
          <a:ln w="12700">
            <a:solidFill>
              <a:srgbClr val="00C896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2834640"/>
            <a:ext cx="64008" cy="64008"/>
          </a:xfrm>
          <a:prstGeom prst="ellipse">
            <a:avLst/>
          </a:prstGeom>
          <a:solidFill>
            <a:srgbClr val="00C896">
              <a:alpha val="45000"/>
            </a:srgbClr>
          </a:solidFill>
          <a:ln w="12700">
            <a:solidFill>
              <a:srgbClr val="00C896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291840"/>
            <a:ext cx="64008" cy="64008"/>
          </a:xfrm>
          <a:prstGeom prst="ellipse">
            <a:avLst/>
          </a:prstGeom>
          <a:solidFill>
            <a:srgbClr val="00C896">
              <a:alpha val="45000"/>
            </a:srgbClr>
          </a:solidFill>
          <a:ln w="12700">
            <a:solidFill>
              <a:srgbClr val="00C896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4560" y="3017520"/>
            <a:ext cx="64008" cy="64008"/>
          </a:xfrm>
          <a:prstGeom prst="ellipse">
            <a:avLst/>
          </a:prstGeom>
          <a:solidFill>
            <a:srgbClr val="00C896">
              <a:alpha val="45000"/>
            </a:srgbClr>
          </a:solidFill>
          <a:ln w="12700">
            <a:solidFill>
              <a:srgbClr val="00C896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3200400"/>
            <a:ext cx="64008" cy="64008"/>
          </a:xfrm>
          <a:prstGeom prst="ellipse">
            <a:avLst/>
          </a:prstGeom>
          <a:solidFill>
            <a:srgbClr val="00C896">
              <a:alpha val="45000"/>
            </a:srgbClr>
          </a:solidFill>
          <a:ln w="12700">
            <a:solidFill>
              <a:srgbClr val="00C896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4023360"/>
            <a:ext cx="64008" cy="64008"/>
          </a:xfrm>
          <a:prstGeom prst="ellipse">
            <a:avLst/>
          </a:prstGeom>
          <a:solidFill>
            <a:srgbClr val="00C896">
              <a:alpha val="45000"/>
            </a:srgbClr>
          </a:solidFill>
          <a:ln w="12700">
            <a:solidFill>
              <a:srgbClr val="00C896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3931920"/>
            <a:ext cx="64008" cy="64008"/>
          </a:xfrm>
          <a:prstGeom prst="ellipse">
            <a:avLst/>
          </a:prstGeom>
          <a:solidFill>
            <a:srgbClr val="00C896">
              <a:alpha val="45000"/>
            </a:srgbClr>
          </a:solidFill>
          <a:ln w="12700">
            <a:solidFill>
              <a:srgbClr val="00C896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34747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77640" y="77724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Single-Cycle CPU</a:t>
            </a:r>
            <a:endParaRPr lang="en-US" sz="3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Datapath &amp; RTL Design</a:t>
            </a:r>
            <a:endParaRPr lang="en-US" sz="3100" dirty="0"/>
          </a:p>
        </p:txBody>
      </p:sp>
      <p:sp>
        <p:nvSpPr>
          <p:cNvPr id="22" name="Shape 20"/>
          <p:cNvSpPr/>
          <p:nvPr/>
        </p:nvSpPr>
        <p:spPr>
          <a:xfrm>
            <a:off x="3977640" y="2395728"/>
            <a:ext cx="10058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77640" y="251460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A5E9"/>
                </a:solidFill>
              </a:rPr>
              <a:t>RISC-V Architecture &amp; FPGA Design Training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77640" y="29443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Program Counter · Register File · ALU · Control Unit · RTL Simulation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977640" y="379476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77640" y="37947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0E15"/>
                </a:solidFill>
              </a:rPr>
              <a:t>Single-Cycle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550408" y="379476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50408" y="37947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0E15"/>
                </a:solidFill>
              </a:rPr>
              <a:t>RTL Coding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23176" y="379476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23176" y="37947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0E15"/>
                </a:solidFill>
              </a:rPr>
              <a:t>Simulation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28600" y="3474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96"/>
                </a:solidFill>
              </a:rPr>
              <a:t>Today's Agenda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01168" y="804672"/>
            <a:ext cx="3246120" cy="44805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1168" y="804672"/>
            <a:ext cx="3246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0E15"/>
                </a:solidFill>
              </a:rPr>
              <a:t>▶  Single-Cycle Datapath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01168" y="1325880"/>
            <a:ext cx="3246120" cy="44805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1168" y="1325880"/>
            <a:ext cx="3246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0E15"/>
                </a:solidFill>
              </a:rPr>
              <a:t>▶  Control Signals &amp; CU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01168" y="1847088"/>
            <a:ext cx="3246120" cy="448056"/>
          </a:xfrm>
          <a:prstGeom prst="rect">
            <a:avLst/>
          </a:prstGeom>
          <a:solidFill>
            <a:srgbClr val="0D2233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1168" y="1847088"/>
            <a:ext cx="3246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    Program Counter RTL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01168" y="2368296"/>
            <a:ext cx="3246120" cy="448056"/>
          </a:xfrm>
          <a:prstGeom prst="rect">
            <a:avLst/>
          </a:prstGeom>
          <a:solidFill>
            <a:srgbClr val="0D2233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1168" y="2368296"/>
            <a:ext cx="3246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    Register File (32×32)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01168" y="2889504"/>
            <a:ext cx="3246120" cy="448056"/>
          </a:xfrm>
          <a:prstGeom prst="rect">
            <a:avLst/>
          </a:prstGeom>
          <a:solidFill>
            <a:srgbClr val="0D2233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1168" y="2889504"/>
            <a:ext cx="3246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    ALU Implementation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01168" y="3410712"/>
            <a:ext cx="3246120" cy="448056"/>
          </a:xfrm>
          <a:prstGeom prst="rect">
            <a:avLst/>
          </a:prstGeom>
          <a:solidFill>
            <a:srgbClr val="0D2233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1168" y="3410712"/>
            <a:ext cx="3246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    Immediate Generator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01168" y="3931920"/>
            <a:ext cx="3246120" cy="448056"/>
          </a:xfrm>
          <a:prstGeom prst="rect">
            <a:avLst/>
          </a:prstGeom>
          <a:solidFill>
            <a:srgbClr val="0D2233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1168" y="3931920"/>
            <a:ext cx="3246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    Core RTL Modules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01168" y="4453128"/>
            <a:ext cx="3246120" cy="448056"/>
          </a:xfrm>
          <a:prstGeom prst="rect">
            <a:avLst/>
          </a:prstGeom>
          <a:solidFill>
            <a:srgbClr val="0D2233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1168" y="4453128"/>
            <a:ext cx="3246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    Simulation &amp; Debug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28016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Single-Cycle Datapath — Complete Architecture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704088"/>
            <a:ext cx="8375904" cy="228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097280"/>
            <a:ext cx="1417320" cy="777240"/>
          </a:xfrm>
          <a:prstGeom prst="rect">
            <a:avLst/>
          </a:prstGeom>
          <a:solidFill>
            <a:srgbClr val="0B1A24"/>
          </a:solidFill>
          <a:ln w="19050">
            <a:solidFill>
              <a:srgbClr val="0EA5E9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56032" y="109728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A5E9"/>
                </a:solidFill>
              </a:rPr>
              <a:t>Instruction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EA5E9"/>
                </a:solidFill>
              </a:rPr>
              <a:t>Memory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48840" y="1024128"/>
            <a:ext cx="1325880" cy="960120"/>
          </a:xfrm>
          <a:prstGeom prst="rect">
            <a:avLst/>
          </a:prstGeom>
          <a:solidFill>
            <a:srgbClr val="0B1A24"/>
          </a:solidFill>
          <a:ln w="19050">
            <a:solidFill>
              <a:srgbClr val="00C89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48840" y="1024128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96"/>
                </a:solidFill>
              </a:rPr>
              <a:t>Register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C896"/>
                </a:solidFill>
              </a:rPr>
              <a:t>File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48840" y="2148840"/>
            <a:ext cx="1325880" cy="548640"/>
          </a:xfrm>
          <a:prstGeom prst="rect">
            <a:avLst/>
          </a:prstGeom>
          <a:solidFill>
            <a:srgbClr val="0B1A24"/>
          </a:solidFill>
          <a:ln w="19050">
            <a:solidFill>
              <a:srgbClr val="4A6272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48840" y="21488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6272"/>
                </a:solidFill>
              </a:rPr>
              <a:t>Sign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4A6272"/>
                </a:solidFill>
              </a:rPr>
              <a:t>Extend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977640" y="1024128"/>
            <a:ext cx="960120" cy="1188720"/>
          </a:xfrm>
          <a:prstGeom prst="rect">
            <a:avLst/>
          </a:prstGeom>
          <a:solidFill>
            <a:srgbClr val="0B1A24"/>
          </a:solidFill>
          <a:ln w="1905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77640" y="1024128"/>
            <a:ext cx="960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ALU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0" y="1024128"/>
            <a:ext cx="1325880" cy="960120"/>
          </a:xfrm>
          <a:prstGeom prst="rect">
            <a:avLst/>
          </a:prstGeom>
          <a:solidFill>
            <a:srgbClr val="0B1A24"/>
          </a:solidFill>
          <a:ln w="19050">
            <a:solidFill>
              <a:srgbClr val="0EA5E9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0" y="1024128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A5E9"/>
                </a:solidFill>
              </a:rPr>
              <a:t>Data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EA5E9"/>
                </a:solidFill>
              </a:rPr>
              <a:t>Memory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040880" y="1207008"/>
            <a:ext cx="658368" cy="621792"/>
          </a:xfrm>
          <a:prstGeom prst="rect">
            <a:avLst/>
          </a:prstGeom>
          <a:solidFill>
            <a:srgbClr val="0B1A24"/>
          </a:solidFill>
          <a:ln w="19050">
            <a:solidFill>
              <a:srgbClr val="4A6272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040880" y="1207008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6272"/>
                </a:solidFill>
              </a:rPr>
              <a:t>MUX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4A6272"/>
                </a:solidFill>
              </a:rPr>
              <a:t>WB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" y="868680"/>
            <a:ext cx="1417320" cy="384048"/>
          </a:xfrm>
          <a:prstGeom prst="rect">
            <a:avLst/>
          </a:prstGeom>
          <a:solidFill>
            <a:srgbClr val="0B1A24"/>
          </a:solidFill>
          <a:ln w="19050">
            <a:solidFill>
              <a:srgbClr val="A78BFA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6032" y="8686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</a:rPr>
              <a:t>PC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6032" y="3035808"/>
            <a:ext cx="1417320" cy="658368"/>
          </a:xfrm>
          <a:prstGeom prst="rect">
            <a:avLst/>
          </a:prstGeom>
          <a:solidFill>
            <a:srgbClr val="0B1A24"/>
          </a:solidFill>
          <a:ln w="19050">
            <a:solidFill>
              <a:srgbClr val="A78BFA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6032" y="3035808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</a:rPr>
              <a:t>PC+4 / Branch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</a:rPr>
              <a:t>Adder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03320" y="2121408"/>
            <a:ext cx="777240" cy="548640"/>
          </a:xfrm>
          <a:prstGeom prst="rect">
            <a:avLst/>
          </a:prstGeom>
          <a:solidFill>
            <a:srgbClr val="0B1A24"/>
          </a:solidFill>
          <a:ln w="19050">
            <a:solidFill>
              <a:srgbClr val="4A6272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703320" y="212140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6272"/>
                </a:solidFill>
              </a:rPr>
              <a:t>ALUSrc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4A6272"/>
                </a:solidFill>
              </a:rPr>
              <a:t>MUX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46120" y="795528"/>
            <a:ext cx="2194560" cy="402336"/>
          </a:xfrm>
          <a:prstGeom prst="rect">
            <a:avLst/>
          </a:prstGeom>
          <a:solidFill>
            <a:srgbClr val="0B1A24"/>
          </a:solidFill>
          <a:ln w="19050">
            <a:solidFill>
              <a:srgbClr val="F87171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46120" y="79552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7171"/>
                </a:solidFill>
              </a:rPr>
              <a:t>Control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87171"/>
                </a:solidFill>
              </a:rPr>
              <a:t>Unit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60120" y="868680"/>
            <a:ext cx="9144" cy="228600"/>
          </a:xfrm>
          <a:prstGeom prst="line">
            <a:avLst/>
          </a:prstGeom>
          <a:noFill/>
          <a:ln w="1524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7132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78BFA"/>
                </a:solidFill>
              </a:rPr>
              <a:t>PC addr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673352" y="1481328"/>
            <a:ext cx="475488" cy="64008"/>
          </a:xfrm>
          <a:prstGeom prst="line">
            <a:avLst/>
          </a:prstGeom>
          <a:noFill/>
          <a:ln w="1524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08176" y="12618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EA5E9"/>
                </a:solidFill>
              </a:rPr>
              <a:t>instr[31:0]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474720" y="1417320"/>
            <a:ext cx="502920" cy="9144"/>
          </a:xfrm>
          <a:prstGeom prst="line">
            <a:avLst/>
          </a:prstGeom>
          <a:noFill/>
          <a:ln w="15240">
            <a:solidFill>
              <a:srgbClr val="00C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23260" y="12618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C896"/>
                </a:solidFill>
              </a:rPr>
              <a:t>rs1,rs2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474720" y="2377440"/>
            <a:ext cx="228600" cy="9144"/>
          </a:xfrm>
          <a:prstGeom prst="line">
            <a:avLst/>
          </a:prstGeom>
          <a:noFill/>
          <a:ln w="15240">
            <a:solidFill>
              <a:srgbClr val="4A627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86100" y="222199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6272"/>
                </a:solidFill>
              </a:rPr>
              <a:t>imm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937760" y="1618488"/>
            <a:ext cx="548640" cy="9144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14630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59E0B"/>
                </a:solidFill>
              </a:rPr>
              <a:t>EA/result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812280" y="1618488"/>
            <a:ext cx="228600" cy="9144"/>
          </a:xfrm>
          <a:prstGeom prst="line">
            <a:avLst/>
          </a:prstGeom>
          <a:noFill/>
          <a:ln w="15240">
            <a:solidFill>
              <a:srgbClr val="0EA5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23660" y="14630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EA5E9"/>
                </a:solidFill>
              </a:rPr>
              <a:t>mem_out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699248" y="1517904"/>
            <a:ext cx="301752" cy="9144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47204" y="136245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→ rd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56032" y="3822192"/>
            <a:ext cx="8631936" cy="1170432"/>
          </a:xfrm>
          <a:prstGeom prst="rect">
            <a:avLst/>
          </a:prstGeom>
          <a:solidFill>
            <a:srgbClr val="0D2233"/>
          </a:solidFill>
          <a:ln w="12700">
            <a:solidFill>
              <a:srgbClr val="00C89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11480" y="38770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</a:rPr>
              <a:t>Instruction Data Flows: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1480" y="41879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896"/>
                </a:solidFill>
              </a:rPr>
              <a:t>▸  R-type:  RegFile → ALU → RegFile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09160" y="41879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A5E9"/>
                </a:solidFill>
              </a:rPr>
              <a:t>▸  I-type (LW):  RegFile → ALU(EA) → Mem → RegFile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11480" y="45354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</a:rPr>
              <a:t>▸  S-type (SW):  RegFile → ALU(EA) → Mem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709160" y="45354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7171"/>
                </a:solidFill>
              </a:rPr>
              <a:t>▸  B-type:  RegFile → ALU(compare) → PC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28016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Datapath Components — Function of Each Block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704088"/>
            <a:ext cx="8375904" cy="228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868680"/>
            <a:ext cx="2633472" cy="1783080"/>
          </a:xfrm>
          <a:prstGeom prst="rect">
            <a:avLst/>
          </a:prstGeom>
          <a:solidFill>
            <a:srgbClr val="0B1A24"/>
          </a:solidFill>
          <a:ln w="1524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68680"/>
            <a:ext cx="64008" cy="17830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9784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</a:rPr>
              <a:t>📍  Program Counter (PC)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0624" y="13441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2F0F7"/>
                </a:solidFill>
              </a:rPr>
              <a:t>Holds address of current instruction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20624" y="161848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32-bit register clocked on posedge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Outputs PC to Instruction Memory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Updates: PC+4  or  branch target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08960" y="868680"/>
            <a:ext cx="2633472" cy="1783080"/>
          </a:xfrm>
          <a:prstGeom prst="rect">
            <a:avLst/>
          </a:prstGeom>
          <a:solidFill>
            <a:srgbClr val="0B1A24"/>
          </a:solidFill>
          <a:ln w="1524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0" y="868680"/>
            <a:ext cx="64008" cy="1783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3552" y="9784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</a:rPr>
              <a:t>🗃️  Instruction Memory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73552" y="13441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2F0F7"/>
                </a:solidFill>
              </a:rPr>
              <a:t>Read-only memory storing the program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73552" y="161848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Addressed by PC[31:2]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Outputs 32-bit instruction word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Typically synchronous SRAM in FPGA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61888" y="868680"/>
            <a:ext cx="2633472" cy="1783080"/>
          </a:xfrm>
          <a:prstGeom prst="rect">
            <a:avLst/>
          </a:prstGeom>
          <a:solidFill>
            <a:srgbClr val="0B1A24"/>
          </a:solidFill>
          <a:ln w="1524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61888" y="868680"/>
            <a:ext cx="64008" cy="17830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9784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</a:rPr>
              <a:t>📋  Register File (32×32)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13441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2F0F7"/>
                </a:solidFill>
              </a:rPr>
              <a:t>32 general-purpose 32-bit registers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26480" y="161848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2 async read ports (rs1, rs2)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1 sync write port (rd, clk)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x0 is hardwired to 0 always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" y="2834640"/>
            <a:ext cx="2633472" cy="1783080"/>
          </a:xfrm>
          <a:prstGeom prst="rect">
            <a:avLst/>
          </a:prstGeom>
          <a:solidFill>
            <a:srgbClr val="0B1A24"/>
          </a:solidFill>
          <a:ln w="1524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834640"/>
            <a:ext cx="64008" cy="17830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2944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</a:rPr>
              <a:t>🔢  Sign Extender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0624" y="33101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2F0F7"/>
                </a:solidFill>
              </a:rPr>
              <a:t>Expands 12-bit immediate to 32 bits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20624" y="358444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Replicates bit[11] into bits[31:12]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Essential for ADDI, LW, SW, branches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Combinational — zero latency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08960" y="2834640"/>
            <a:ext cx="2633472" cy="1783080"/>
          </a:xfrm>
          <a:prstGeom prst="rect">
            <a:avLst/>
          </a:prstGeom>
          <a:solidFill>
            <a:srgbClr val="0B1A24"/>
          </a:solidFill>
          <a:ln w="1524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08960" y="2834640"/>
            <a:ext cx="64008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73552" y="2944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⚙️  ALU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73552" y="33101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2F0F7"/>
                </a:solidFill>
              </a:rPr>
              <a:t>Performs arithmetic and logic ops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73552" y="358444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ADD, SUB, AND, OR, XOR, SLT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Outputs: 32-bit result + zero flag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zero flag drives branch control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61888" y="2834640"/>
            <a:ext cx="2633472" cy="1783080"/>
          </a:xfrm>
          <a:prstGeom prst="rect">
            <a:avLst/>
          </a:prstGeom>
          <a:solidFill>
            <a:srgbClr val="0B1A24"/>
          </a:solidFill>
          <a:ln w="1524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61888" y="2834640"/>
            <a:ext cx="64008" cy="1783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2944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</a:rPr>
              <a:t>💾  Data Memory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26480" y="33101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2F0F7"/>
                </a:solidFill>
              </a:rPr>
              <a:t>SRAM for load/store instructions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26480" y="358444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Write-enable controlled by MemWrite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Read-enable controlled by MemRead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Word-aligned 32-bit access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28016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Signals &amp; Control Unit — The Decision Engine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704088"/>
            <a:ext cx="8375904" cy="228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868680"/>
            <a:ext cx="4663440" cy="4114800"/>
          </a:xfrm>
          <a:prstGeom prst="rect">
            <a:avLst/>
          </a:prstGeom>
          <a:solidFill>
            <a:srgbClr val="0B1A24"/>
          </a:solidFill>
          <a:ln w="12700">
            <a:solidFill>
              <a:srgbClr val="F87171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68680"/>
            <a:ext cx="4663440" cy="38404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686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Control Signal Truth Table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1371600" cy="365760"/>
          </a:xfrm>
          <a:prstGeom prst="rect">
            <a:avLst/>
          </a:prstGeom>
          <a:solidFill>
            <a:srgbClr val="0D2233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28016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87171"/>
                </a:solidFill>
              </a:rPr>
              <a:t>Signal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64208" y="1280160"/>
            <a:ext cx="621792" cy="365760"/>
          </a:xfrm>
          <a:prstGeom prst="rect">
            <a:avLst/>
          </a:prstGeom>
          <a:solidFill>
            <a:srgbClr val="0D2233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00784" y="1280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7171"/>
                </a:solidFill>
              </a:rPr>
              <a:t>R-type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04288" y="1280160"/>
            <a:ext cx="566928" cy="365760"/>
          </a:xfrm>
          <a:prstGeom prst="rect">
            <a:avLst/>
          </a:prstGeom>
          <a:solidFill>
            <a:srgbClr val="0D2233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40864" y="128016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7171"/>
                </a:solidFill>
              </a:rPr>
              <a:t>LW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89504" y="1280160"/>
            <a:ext cx="566928" cy="365760"/>
          </a:xfrm>
          <a:prstGeom prst="rect">
            <a:avLst/>
          </a:prstGeom>
          <a:solidFill>
            <a:srgbClr val="0D2233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128016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7171"/>
                </a:solidFill>
              </a:rPr>
              <a:t>SW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0" y="1280160"/>
            <a:ext cx="566928" cy="365760"/>
          </a:xfrm>
          <a:prstGeom prst="rect">
            <a:avLst/>
          </a:prstGeom>
          <a:solidFill>
            <a:srgbClr val="0D2233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11296" y="128016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7171"/>
                </a:solidFill>
              </a:rPr>
              <a:t>BEQ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059936" y="1280160"/>
            <a:ext cx="566928" cy="365760"/>
          </a:xfrm>
          <a:prstGeom prst="rect">
            <a:avLst/>
          </a:prstGeom>
          <a:solidFill>
            <a:srgbClr val="0D2233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96512" y="128016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7171"/>
                </a:solidFill>
              </a:rPr>
              <a:t>JAL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1682496"/>
            <a:ext cx="1371600" cy="365760"/>
          </a:xfrm>
          <a:prstGeom prst="rect">
            <a:avLst/>
          </a:prstGeom>
          <a:solidFill>
            <a:srgbClr val="0A1A28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" y="1682496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2F0F7"/>
                </a:solidFill>
              </a:rPr>
              <a:t>RegWrite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664208" y="1682496"/>
            <a:ext cx="621792" cy="365760"/>
          </a:xfrm>
          <a:prstGeom prst="rect">
            <a:avLst/>
          </a:prstGeom>
          <a:solidFill>
            <a:srgbClr val="0D2D1A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00784" y="16824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</a:rPr>
              <a:t>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304288" y="1682496"/>
            <a:ext cx="566928" cy="365760"/>
          </a:xfrm>
          <a:prstGeom prst="rect">
            <a:avLst/>
          </a:prstGeom>
          <a:solidFill>
            <a:srgbClr val="0D2D1A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40864" y="1682496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</a:rPr>
              <a:t>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889504" y="1682496"/>
            <a:ext cx="566928" cy="365760"/>
          </a:xfrm>
          <a:prstGeom prst="rect">
            <a:avLst/>
          </a:prstGeom>
          <a:solidFill>
            <a:srgbClr val="0A1A28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0" y="1682496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F0F7"/>
                </a:solidFill>
              </a:rPr>
              <a:t>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74720" y="1682496"/>
            <a:ext cx="566928" cy="365760"/>
          </a:xfrm>
          <a:prstGeom prst="rect">
            <a:avLst/>
          </a:prstGeom>
          <a:solidFill>
            <a:srgbClr val="0A1A28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11296" y="1682496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F0F7"/>
                </a:solidFill>
              </a:rPr>
              <a:t>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059936" y="1682496"/>
            <a:ext cx="566928" cy="365760"/>
          </a:xfrm>
          <a:prstGeom prst="rect">
            <a:avLst/>
          </a:prstGeom>
          <a:solidFill>
            <a:srgbClr val="0D2D1A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96512" y="1682496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</a:rPr>
              <a:t>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2084832"/>
            <a:ext cx="1371600" cy="365760"/>
          </a:xfrm>
          <a:prstGeom prst="rect">
            <a:avLst/>
          </a:prstGeom>
          <a:solidFill>
            <a:srgbClr val="0B1A24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" y="208483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2F0F7"/>
                </a:solidFill>
              </a:rPr>
              <a:t>MemRead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664208" y="2084832"/>
            <a:ext cx="621792" cy="365760"/>
          </a:xfrm>
          <a:prstGeom prst="rect">
            <a:avLst/>
          </a:prstGeom>
          <a:solidFill>
            <a:srgbClr val="0B1A24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00784" y="20848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F0F7"/>
                </a:solidFill>
              </a:rPr>
              <a:t>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304288" y="2084832"/>
            <a:ext cx="566928" cy="365760"/>
          </a:xfrm>
          <a:prstGeom prst="rect">
            <a:avLst/>
          </a:prstGeom>
          <a:solidFill>
            <a:srgbClr val="0D2D1A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40864" y="2084832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</a:rPr>
              <a:t>1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89504" y="2084832"/>
            <a:ext cx="566928" cy="365760"/>
          </a:xfrm>
          <a:prstGeom prst="rect">
            <a:avLst/>
          </a:prstGeom>
          <a:solidFill>
            <a:srgbClr val="0B1A24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26080" y="2084832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F0F7"/>
                </a:solidFill>
              </a:rPr>
              <a:t>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474720" y="2084832"/>
            <a:ext cx="566928" cy="365760"/>
          </a:xfrm>
          <a:prstGeom prst="rect">
            <a:avLst/>
          </a:prstGeom>
          <a:solidFill>
            <a:srgbClr val="0B1A24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11296" y="2084832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F0F7"/>
                </a:solidFill>
              </a:rPr>
              <a:t>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059936" y="2084832"/>
            <a:ext cx="566928" cy="365760"/>
          </a:xfrm>
          <a:prstGeom prst="rect">
            <a:avLst/>
          </a:prstGeom>
          <a:solidFill>
            <a:srgbClr val="0B1A24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96512" y="2084832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F0F7"/>
                </a:solidFill>
              </a:rPr>
              <a:t>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2487168"/>
            <a:ext cx="1371600" cy="365760"/>
          </a:xfrm>
          <a:prstGeom prst="rect">
            <a:avLst/>
          </a:prstGeom>
          <a:solidFill>
            <a:srgbClr val="0A1A28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0896" y="248716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2F0F7"/>
                </a:solidFill>
              </a:rPr>
              <a:t>MemWrite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664208" y="2487168"/>
            <a:ext cx="621792" cy="365760"/>
          </a:xfrm>
          <a:prstGeom prst="rect">
            <a:avLst/>
          </a:prstGeom>
          <a:solidFill>
            <a:srgbClr val="0A1A28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00784" y="24871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F0F7"/>
                </a:solidFill>
              </a:rPr>
              <a:t>0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304288" y="2487168"/>
            <a:ext cx="566928" cy="365760"/>
          </a:xfrm>
          <a:prstGeom prst="rect">
            <a:avLst/>
          </a:prstGeom>
          <a:solidFill>
            <a:srgbClr val="0A1A28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40864" y="248716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F0F7"/>
                </a:solidFill>
              </a:rPr>
              <a:t>0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889504" y="2487168"/>
            <a:ext cx="566928" cy="365760"/>
          </a:xfrm>
          <a:prstGeom prst="rect">
            <a:avLst/>
          </a:prstGeom>
          <a:solidFill>
            <a:srgbClr val="0D2D1A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26080" y="248716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</a:rPr>
              <a:t>1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474720" y="2487168"/>
            <a:ext cx="566928" cy="365760"/>
          </a:xfrm>
          <a:prstGeom prst="rect">
            <a:avLst/>
          </a:prstGeom>
          <a:solidFill>
            <a:srgbClr val="0A1A28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511296" y="248716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F0F7"/>
                </a:solidFill>
              </a:rPr>
              <a:t>0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059936" y="2487168"/>
            <a:ext cx="566928" cy="365760"/>
          </a:xfrm>
          <a:prstGeom prst="rect">
            <a:avLst/>
          </a:prstGeom>
          <a:solidFill>
            <a:srgbClr val="0A1A28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96512" y="248716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F0F7"/>
                </a:solidFill>
              </a:rPr>
              <a:t>0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74320" y="2889504"/>
            <a:ext cx="1371600" cy="365760"/>
          </a:xfrm>
          <a:prstGeom prst="rect">
            <a:avLst/>
          </a:prstGeom>
          <a:solidFill>
            <a:srgbClr val="0B1A24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0896" y="2889504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2F0F7"/>
                </a:solidFill>
              </a:rPr>
              <a:t>ALUSrc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1664208" y="2889504"/>
            <a:ext cx="621792" cy="365760"/>
          </a:xfrm>
          <a:prstGeom prst="rect">
            <a:avLst/>
          </a:prstGeom>
          <a:solidFill>
            <a:srgbClr val="0B1A24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700784" y="28895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F0F7"/>
                </a:solidFill>
              </a:rPr>
              <a:t>0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304288" y="2889504"/>
            <a:ext cx="566928" cy="365760"/>
          </a:xfrm>
          <a:prstGeom prst="rect">
            <a:avLst/>
          </a:prstGeom>
          <a:solidFill>
            <a:srgbClr val="0D2D1A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340864" y="288950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</a:rPr>
              <a:t>1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889504" y="2889504"/>
            <a:ext cx="566928" cy="365760"/>
          </a:xfrm>
          <a:prstGeom prst="rect">
            <a:avLst/>
          </a:prstGeom>
          <a:solidFill>
            <a:srgbClr val="0D2D1A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926080" y="288950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</a:rPr>
              <a:t>1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474720" y="2889504"/>
            <a:ext cx="566928" cy="365760"/>
          </a:xfrm>
          <a:prstGeom prst="rect">
            <a:avLst/>
          </a:prstGeom>
          <a:solidFill>
            <a:srgbClr val="0B1A24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511296" y="288950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F0F7"/>
                </a:solidFill>
              </a:rPr>
              <a:t>0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059936" y="2889504"/>
            <a:ext cx="566928" cy="365760"/>
          </a:xfrm>
          <a:prstGeom prst="rect">
            <a:avLst/>
          </a:prstGeom>
          <a:solidFill>
            <a:srgbClr val="0B1A24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096512" y="288950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F0F7"/>
                </a:solidFill>
              </a:rPr>
              <a:t>0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274320" y="3291840"/>
            <a:ext cx="1371600" cy="365760"/>
          </a:xfrm>
          <a:prstGeom prst="rect">
            <a:avLst/>
          </a:prstGeom>
          <a:solidFill>
            <a:srgbClr val="0A1A28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10896" y="329184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2F0F7"/>
                </a:solidFill>
              </a:rPr>
              <a:t>Branch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1664208" y="3291840"/>
            <a:ext cx="621792" cy="365760"/>
          </a:xfrm>
          <a:prstGeom prst="rect">
            <a:avLst/>
          </a:prstGeom>
          <a:solidFill>
            <a:srgbClr val="0A1A28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700784" y="3291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F0F7"/>
                </a:solidFill>
              </a:rPr>
              <a:t>0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2304288" y="3291840"/>
            <a:ext cx="566928" cy="365760"/>
          </a:xfrm>
          <a:prstGeom prst="rect">
            <a:avLst/>
          </a:prstGeom>
          <a:solidFill>
            <a:srgbClr val="0A1A28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340864" y="329184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F0F7"/>
                </a:solidFill>
              </a:rPr>
              <a:t>0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2889504" y="3291840"/>
            <a:ext cx="566928" cy="365760"/>
          </a:xfrm>
          <a:prstGeom prst="rect">
            <a:avLst/>
          </a:prstGeom>
          <a:solidFill>
            <a:srgbClr val="0A1A28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926080" y="329184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F0F7"/>
                </a:solidFill>
              </a:rPr>
              <a:t>0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474720" y="3291840"/>
            <a:ext cx="566928" cy="365760"/>
          </a:xfrm>
          <a:prstGeom prst="rect">
            <a:avLst/>
          </a:prstGeom>
          <a:solidFill>
            <a:srgbClr val="0D2D1A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511296" y="329184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</a:rPr>
              <a:t>1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4059936" y="3291840"/>
            <a:ext cx="566928" cy="365760"/>
          </a:xfrm>
          <a:prstGeom prst="rect">
            <a:avLst/>
          </a:prstGeom>
          <a:solidFill>
            <a:srgbClr val="0A1A28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096512" y="329184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F0F7"/>
                </a:solidFill>
              </a:rPr>
              <a:t>0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274320" y="3694176"/>
            <a:ext cx="1371600" cy="365760"/>
          </a:xfrm>
          <a:prstGeom prst="rect">
            <a:avLst/>
          </a:prstGeom>
          <a:solidFill>
            <a:srgbClr val="0B1A24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10896" y="3694176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2F0F7"/>
                </a:solidFill>
              </a:rPr>
              <a:t>Jump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1664208" y="3694176"/>
            <a:ext cx="621792" cy="365760"/>
          </a:xfrm>
          <a:prstGeom prst="rect">
            <a:avLst/>
          </a:prstGeom>
          <a:solidFill>
            <a:srgbClr val="0B1A24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700784" y="36941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F0F7"/>
                </a:solidFill>
              </a:rPr>
              <a:t>0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2304288" y="3694176"/>
            <a:ext cx="566928" cy="365760"/>
          </a:xfrm>
          <a:prstGeom prst="rect">
            <a:avLst/>
          </a:prstGeom>
          <a:solidFill>
            <a:srgbClr val="0B1A24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340864" y="3694176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F0F7"/>
                </a:solidFill>
              </a:rPr>
              <a:t>0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2889504" y="3694176"/>
            <a:ext cx="566928" cy="365760"/>
          </a:xfrm>
          <a:prstGeom prst="rect">
            <a:avLst/>
          </a:prstGeom>
          <a:solidFill>
            <a:srgbClr val="0B1A24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926080" y="3694176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F0F7"/>
                </a:solidFill>
              </a:rPr>
              <a:t>0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3474720" y="3694176"/>
            <a:ext cx="566928" cy="365760"/>
          </a:xfrm>
          <a:prstGeom prst="rect">
            <a:avLst/>
          </a:prstGeom>
          <a:solidFill>
            <a:srgbClr val="0B1A24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511296" y="3694176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F0F7"/>
                </a:solidFill>
              </a:rPr>
              <a:t>0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4059936" y="3694176"/>
            <a:ext cx="566928" cy="365760"/>
          </a:xfrm>
          <a:prstGeom prst="rect">
            <a:avLst/>
          </a:prstGeom>
          <a:solidFill>
            <a:srgbClr val="0D2D1A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096512" y="3694176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</a:rPr>
              <a:t>1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274320" y="4096512"/>
            <a:ext cx="1371600" cy="365760"/>
          </a:xfrm>
          <a:prstGeom prst="rect">
            <a:avLst/>
          </a:prstGeom>
          <a:solidFill>
            <a:srgbClr val="0A1A28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10896" y="409651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2F0F7"/>
                </a:solidFill>
              </a:rPr>
              <a:t>MemToReg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1664208" y="4096512"/>
            <a:ext cx="621792" cy="365760"/>
          </a:xfrm>
          <a:prstGeom prst="rect">
            <a:avLst/>
          </a:prstGeom>
          <a:solidFill>
            <a:srgbClr val="0A1A28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700784" y="40965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F0F7"/>
                </a:solidFill>
              </a:rPr>
              <a:t>0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2304288" y="4096512"/>
            <a:ext cx="566928" cy="365760"/>
          </a:xfrm>
          <a:prstGeom prst="rect">
            <a:avLst/>
          </a:prstGeom>
          <a:solidFill>
            <a:srgbClr val="0D2D1A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340864" y="4096512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</a:rPr>
              <a:t>1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2889504" y="4096512"/>
            <a:ext cx="566928" cy="365760"/>
          </a:xfrm>
          <a:prstGeom prst="rect">
            <a:avLst/>
          </a:prstGeom>
          <a:solidFill>
            <a:srgbClr val="0A1A28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926080" y="4096512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F0F7"/>
                </a:solidFill>
              </a:rPr>
              <a:t>0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3474720" y="4096512"/>
            <a:ext cx="566928" cy="365760"/>
          </a:xfrm>
          <a:prstGeom prst="rect">
            <a:avLst/>
          </a:prstGeom>
          <a:solidFill>
            <a:srgbClr val="0A1A28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511296" y="4096512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F0F7"/>
                </a:solidFill>
              </a:rPr>
              <a:t>0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4059936" y="4096512"/>
            <a:ext cx="566928" cy="365760"/>
          </a:xfrm>
          <a:prstGeom prst="rect">
            <a:avLst/>
          </a:prstGeom>
          <a:solidFill>
            <a:srgbClr val="0A1A28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096512" y="4096512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F0F7"/>
                </a:solidFill>
              </a:rPr>
              <a:t>0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274320" y="4498848"/>
            <a:ext cx="1371600" cy="365760"/>
          </a:xfrm>
          <a:prstGeom prst="rect">
            <a:avLst/>
          </a:prstGeom>
          <a:solidFill>
            <a:srgbClr val="0B1A24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10896" y="449884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2F0F7"/>
                </a:solidFill>
              </a:rPr>
              <a:t>ALUOp[1:0]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1664208" y="4498848"/>
            <a:ext cx="621792" cy="365760"/>
          </a:xfrm>
          <a:prstGeom prst="rect">
            <a:avLst/>
          </a:prstGeom>
          <a:solidFill>
            <a:srgbClr val="0B1A24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700784" y="44988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F0F7"/>
                </a:solidFill>
              </a:rPr>
              <a:t>10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2304288" y="4498848"/>
            <a:ext cx="566928" cy="365760"/>
          </a:xfrm>
          <a:prstGeom prst="rect">
            <a:avLst/>
          </a:prstGeom>
          <a:solidFill>
            <a:srgbClr val="0B1A24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340864" y="449884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F0F7"/>
                </a:solidFill>
              </a:rPr>
              <a:t>00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2889504" y="4498848"/>
            <a:ext cx="566928" cy="365760"/>
          </a:xfrm>
          <a:prstGeom prst="rect">
            <a:avLst/>
          </a:prstGeom>
          <a:solidFill>
            <a:srgbClr val="0B1A24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2926080" y="449884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F0F7"/>
                </a:solidFill>
              </a:rPr>
              <a:t>00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3474720" y="4498848"/>
            <a:ext cx="566928" cy="365760"/>
          </a:xfrm>
          <a:prstGeom prst="rect">
            <a:avLst/>
          </a:prstGeom>
          <a:solidFill>
            <a:srgbClr val="0B1A24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511296" y="449884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F0F7"/>
                </a:solidFill>
              </a:rPr>
              <a:t>01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4059936" y="4498848"/>
            <a:ext cx="566928" cy="365760"/>
          </a:xfrm>
          <a:prstGeom prst="rect">
            <a:avLst/>
          </a:prstGeom>
          <a:solidFill>
            <a:srgbClr val="0B1A24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096512" y="449884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F0F7"/>
                </a:solidFill>
              </a:rPr>
              <a:t>00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5074920" y="868680"/>
            <a:ext cx="3840480" cy="38404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074920" y="868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Control Unit — Verilog</a:t>
            </a:r>
            <a:endParaRPr lang="en-US" sz="1100" dirty="0"/>
          </a:p>
        </p:txBody>
      </p:sp>
      <p:sp>
        <p:nvSpPr>
          <p:cNvPr id="118" name="Shape 116"/>
          <p:cNvSpPr/>
          <p:nvPr/>
        </p:nvSpPr>
        <p:spPr>
          <a:xfrm>
            <a:off x="5074920" y="1298448"/>
            <a:ext cx="3840480" cy="3657600"/>
          </a:xfrm>
          <a:prstGeom prst="rect">
            <a:avLst/>
          </a:prstGeom>
          <a:solidFill>
            <a:srgbClr val="020B10"/>
          </a:solidFill>
          <a:ln w="12700">
            <a:solidFill>
              <a:srgbClr val="00C89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9" name="Shape 117"/>
          <p:cNvSpPr/>
          <p:nvPr/>
        </p:nvSpPr>
        <p:spPr>
          <a:xfrm>
            <a:off x="5074920" y="1298448"/>
            <a:ext cx="685800" cy="2011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074920" y="129844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0E15"/>
                </a:solidFill>
              </a:rPr>
              <a:t>SV</a:t>
            </a:r>
            <a:endParaRPr lang="en-US" sz="800" dirty="0"/>
          </a:p>
        </p:txBody>
      </p:sp>
      <p:sp>
        <p:nvSpPr>
          <p:cNvPr id="121" name="Text 119"/>
          <p:cNvSpPr/>
          <p:nvPr/>
        </p:nvSpPr>
        <p:spPr>
          <a:xfrm>
            <a:off x="5184648" y="1517904"/>
            <a:ext cx="36393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control_unit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 [6:0] opcode,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 reg   RegWrite, MemRead,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 reg   MemWrite, ALUSrc,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 reg   Branch,   Jump,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 reg   MemToReg,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 reg [1:0] ALUOp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always_comb begin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Default: all off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{RegWrite,MemRead,MemWrite,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ALUSrc,Branch,Jump,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MemToReg} = 7'b0;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ALUOp = 2'b00;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(opcode)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7'b0110011: // R-type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{RegWrite,ALUOp}={1'b1,2'b10};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7'b0000011: // LW (I-type)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{RegWrite,MemRead,ALUSrc,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MemToReg}=4'b1111;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7'b0100011: // SW (S-type)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{MemWrite,ALUSrc}=2'b11;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7'b1100011: // BEQ (B-type)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{Branch,ALUOp}={1'b1,2'b01};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7'b1101111: // JAL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{RegWrite,Jump}=2'b11;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default: ; // NOP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endcase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endmodule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28016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Counter Design — RTL Implementation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704088"/>
            <a:ext cx="8375904" cy="228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868680"/>
            <a:ext cx="3931920" cy="896112"/>
          </a:xfrm>
          <a:prstGeom prst="rect">
            <a:avLst/>
          </a:prstGeom>
          <a:solidFill>
            <a:srgbClr val="0B1A24"/>
          </a:solidFill>
          <a:ln w="15240">
            <a:solidFill>
              <a:srgbClr val="A78BFA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68680"/>
            <a:ext cx="64008" cy="89611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9601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</a:rPr>
              <a:t>What it does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25272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Stores the address of the current instruction.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Every clock cycle it updates to the next PC value.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1892808"/>
            <a:ext cx="3931920" cy="896112"/>
          </a:xfrm>
          <a:prstGeom prst="rect">
            <a:avLst/>
          </a:prstGeom>
          <a:solidFill>
            <a:srgbClr val="0B1A24"/>
          </a:solidFill>
          <a:ln w="15240">
            <a:solidFill>
              <a:srgbClr val="00C89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892808"/>
            <a:ext cx="64008" cy="89611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9842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</a:rPr>
              <a:t>Next PC logic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" y="227685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Normal:     PC_next = PC + 4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Branch taken: PC_next = PC + imm_offset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JAL:          PC_next = PC + J-imm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2916936"/>
            <a:ext cx="3931920" cy="896112"/>
          </a:xfrm>
          <a:prstGeom prst="rect">
            <a:avLst/>
          </a:prstGeom>
          <a:solidFill>
            <a:srgbClr val="0B1A24"/>
          </a:solidFill>
          <a:ln w="1524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916936"/>
            <a:ext cx="64008" cy="8961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0083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Reset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" y="330098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On reset, PC loads 0x00000000 (or boot vector)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This is the first instruction address fetched.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" y="3941064"/>
            <a:ext cx="3931920" cy="896112"/>
          </a:xfrm>
          <a:prstGeom prst="rect">
            <a:avLst/>
          </a:prstGeom>
          <a:solidFill>
            <a:srgbClr val="0B1A24"/>
          </a:solidFill>
          <a:ln w="15240">
            <a:solidFill>
              <a:srgbClr val="0EA5E9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3941064"/>
            <a:ext cx="64008" cy="89611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40325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</a:rPr>
              <a:t>Timing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" y="432511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PC register: always_ff (clocked)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PC adder (+4): always_comb (combinational)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MUX selection: combinational on Branch signal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70832" y="868680"/>
            <a:ext cx="4572000" cy="4114800"/>
          </a:xfrm>
          <a:prstGeom prst="rect">
            <a:avLst/>
          </a:prstGeom>
          <a:solidFill>
            <a:srgbClr val="020B10"/>
          </a:solidFill>
          <a:ln w="12700">
            <a:solidFill>
              <a:srgbClr val="00C89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70832" y="868680"/>
            <a:ext cx="685800" cy="2011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86868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0E15"/>
                </a:solidFill>
              </a:rPr>
              <a:t>SV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480560" y="1088136"/>
            <a:ext cx="4370832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─── Program Counter Module ───────────────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pc_register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 logic        clk, rst,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 logic [31:0] pc_next,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 logic [31:0] pc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always_ff @(posedge clk) begin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(rst) pc &lt;= 32'h0000_0000;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    pc &lt;= pc_next;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endmodule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─── PC Adder (+4) ───────────────────────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pc_adder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 logic [31:0] pc,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 logic [31:0] pc_plus4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assign pc_plus4 = pc + 32'd4;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endmodule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─── Branch/Jump MUX ─────────────────────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pc_mux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 logic [31:0] pc_plus4,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 logic [31:0] branch_tgt,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 logic [31:0] jump_tgt,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 logic        branch_taken,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 logic        jump,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 logic [31:0] pc_next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always_comb begin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     (jump)         pc_next = jump_tgt;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 (branch_taken) pc_next = branch_tgt;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                  pc_next = pc_plus4;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endmodule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28016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File (32×32) — RTL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704088"/>
            <a:ext cx="8375904" cy="228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868680"/>
            <a:ext cx="4114800" cy="4114800"/>
          </a:xfrm>
          <a:prstGeom prst="rect">
            <a:avLst/>
          </a:prstGeom>
          <a:solidFill>
            <a:srgbClr val="0B1A24"/>
          </a:solidFill>
          <a:ln w="1905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68680"/>
            <a:ext cx="4114800" cy="3657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68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Register File Architecture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17320" y="1417320"/>
            <a:ext cx="1554480" cy="2926080"/>
          </a:xfrm>
          <a:prstGeom prst="rect">
            <a:avLst/>
          </a:prstGeom>
          <a:solidFill>
            <a:srgbClr val="0D2233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44752" y="1508760"/>
            <a:ext cx="149961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00C896"/>
                </a:solidFill>
              </a:rPr>
              <a:t>32 × 32-bit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00C896"/>
                </a:solidFill>
              </a:rPr>
              <a:t>Registers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00C896"/>
                </a:solidFill>
              </a:rPr>
              <a:t>x0=0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00C896"/>
                </a:solidFill>
              </a:rPr>
              <a:t>x1=ra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00C896"/>
                </a:solidFill>
              </a:rPr>
              <a:t>x2=sp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00C896"/>
                </a:solidFill>
              </a:rPr>
              <a:t>...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00C896"/>
                </a:solidFill>
              </a:rPr>
              <a:t>x31=t6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5727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C896"/>
                </a:solidFill>
              </a:rPr>
              <a:t>rs1 [4:0] →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417320" y="1709928"/>
            <a:ext cx="365760" cy="0"/>
          </a:xfrm>
          <a:prstGeom prst="line">
            <a:avLst/>
          </a:prstGeom>
          <a:noFill/>
          <a:ln w="12700">
            <a:solidFill>
              <a:srgbClr val="00C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84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C896"/>
                </a:solidFill>
              </a:rPr>
              <a:t>rs2 [4:0] →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417320" y="2221992"/>
            <a:ext cx="365760" cy="0"/>
          </a:xfrm>
          <a:prstGeom prst="line">
            <a:avLst/>
          </a:prstGeom>
          <a:noFill/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06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</a:rPr>
              <a:t>rd  [4:0] →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417320" y="2743200"/>
            <a:ext cx="36576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1272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</a:rPr>
              <a:t>wd  [31:0] →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417320" y="3264408"/>
            <a:ext cx="36576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639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7171"/>
                </a:solidFill>
              </a:rPr>
              <a:t>we →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417320" y="3776472"/>
            <a:ext cx="365760" cy="0"/>
          </a:xfrm>
          <a:prstGeom prst="line">
            <a:avLst/>
          </a:prstGeom>
          <a:noFill/>
          <a:ln w="12700">
            <a:solidFill>
              <a:srgbClr val="F871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069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78BFA"/>
                </a:solidFill>
              </a:rPr>
              <a:t>clk →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417320" y="4206240"/>
            <a:ext cx="365760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15727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EA5E9"/>
                </a:solidFill>
              </a:rPr>
              <a:t>← rd1 [31:0]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971800" y="1709928"/>
            <a:ext cx="36576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0128" y="2084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EA5E9"/>
                </a:solidFill>
              </a:rPr>
              <a:t>← rd2 [31:0]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971800" y="2221992"/>
            <a:ext cx="36576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4187952"/>
            <a:ext cx="9144" cy="914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4188866"/>
            <a:ext cx="9144" cy="91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" y="4189781"/>
            <a:ext cx="9144" cy="914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" y="4190695"/>
            <a:ext cx="9144" cy="914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868680"/>
            <a:ext cx="4343400" cy="4114800"/>
          </a:xfrm>
          <a:prstGeom prst="rect">
            <a:avLst/>
          </a:prstGeom>
          <a:solidFill>
            <a:srgbClr val="020B10"/>
          </a:solidFill>
          <a:ln w="12700">
            <a:solidFill>
              <a:srgbClr val="00C89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0" y="868680"/>
            <a:ext cx="685800" cy="2011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86868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0E15"/>
                </a:solidFill>
              </a:rPr>
              <a:t>SV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681728" y="1088136"/>
            <a:ext cx="4142232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register_file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 logic        clk,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 logic [4:0]  rs1, rs2,   // read addrs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 logic [4:0]  rd,         // write addr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 logic        we,         // write enable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 logic [31:0] wd,         // write data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 logic [31:0] rd1, rd2    // read data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32 registers of 32 bits each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logic [31:0] regs [0:31];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Asynchronous read (combinational)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x0 is always 0 — hardwired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assign rd1 = (rs1 == 5'b0) ? 32'b0 : regs[rs1];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assign rd2 = (rs2 == 5'b0) ? 32'b0 : regs[rs2];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Synchronous write (clocked)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always_ff @(posedge clk) begin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(we &amp;&amp; (rd != 5'b0))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regs[rd] &lt;= wd;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x0 is never written — guard ensures this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Initialize for simulation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initial begin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32; i++)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regs[i] = 32'h0;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endmodule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28016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Implementation — Arithmetic Logic Unit RTL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704088"/>
            <a:ext cx="8375904" cy="228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868680"/>
            <a:ext cx="4160520" cy="4114800"/>
          </a:xfrm>
          <a:prstGeom prst="rect">
            <a:avLst/>
          </a:prstGeom>
          <a:solidFill>
            <a:srgbClr val="0B1A24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68680"/>
            <a:ext cx="416052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686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ALU Operations &amp; Control Encoding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261872"/>
            <a:ext cx="914400" cy="347472"/>
          </a:xfrm>
          <a:prstGeom prst="rect">
            <a:avLst/>
          </a:prstGeom>
          <a:solidFill>
            <a:srgbClr val="0D2233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6187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ALUCtrl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207008" y="1261872"/>
            <a:ext cx="1234440" cy="347472"/>
          </a:xfrm>
          <a:prstGeom prst="rect">
            <a:avLst/>
          </a:prstGeom>
          <a:solidFill>
            <a:srgbClr val="0D2233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2728" y="126187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59736" y="1261872"/>
            <a:ext cx="1691640" cy="347472"/>
          </a:xfrm>
          <a:prstGeom prst="rect">
            <a:avLst/>
          </a:prstGeom>
          <a:solidFill>
            <a:srgbClr val="0D2233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05456" y="126187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655064"/>
            <a:ext cx="914400" cy="347472"/>
          </a:xfrm>
          <a:prstGeom prst="rect">
            <a:avLst/>
          </a:prstGeom>
          <a:solidFill>
            <a:srgbClr val="0A1A28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65506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DE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4'b0000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207008" y="1655064"/>
            <a:ext cx="1234440" cy="347472"/>
          </a:xfrm>
          <a:prstGeom prst="rect">
            <a:avLst/>
          </a:prstGeom>
          <a:solidFill>
            <a:srgbClr val="0A1A28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52728" y="165506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 a + 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59736" y="1655064"/>
            <a:ext cx="1691640" cy="347472"/>
          </a:xfrm>
          <a:prstGeom prst="rect">
            <a:avLst/>
          </a:prstGeom>
          <a:solidFill>
            <a:srgbClr val="0A1A28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05456" y="165506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ADDI, LW, SW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048256"/>
            <a:ext cx="914400" cy="347472"/>
          </a:xfrm>
          <a:prstGeom prst="rect">
            <a:avLst/>
          </a:prstGeom>
          <a:solidFill>
            <a:srgbClr val="0B1A24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04825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DE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4'b0001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207008" y="2048256"/>
            <a:ext cx="1234440" cy="347472"/>
          </a:xfrm>
          <a:prstGeom prst="rect">
            <a:avLst/>
          </a:prstGeom>
          <a:solidFill>
            <a:srgbClr val="0B1A24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52728" y="204825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  a - b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59736" y="2048256"/>
            <a:ext cx="1691640" cy="347472"/>
          </a:xfrm>
          <a:prstGeom prst="rect">
            <a:avLst/>
          </a:prstGeom>
          <a:solidFill>
            <a:srgbClr val="0B1A24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05456" y="204825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SUB, BEQ (compare)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441448"/>
            <a:ext cx="914400" cy="347472"/>
          </a:xfrm>
          <a:prstGeom prst="rect">
            <a:avLst/>
          </a:prstGeom>
          <a:solidFill>
            <a:srgbClr val="0A1A28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4414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DE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4'b0010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207008" y="2441448"/>
            <a:ext cx="1234440" cy="347472"/>
          </a:xfrm>
          <a:prstGeom prst="rect">
            <a:avLst/>
          </a:prstGeom>
          <a:solidFill>
            <a:srgbClr val="0A1A28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52728" y="244144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 a &amp; b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459736" y="2441448"/>
            <a:ext cx="1691640" cy="347472"/>
          </a:xfrm>
          <a:prstGeom prst="rect">
            <a:avLst/>
          </a:prstGeom>
          <a:solidFill>
            <a:srgbClr val="0A1A28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05456" y="244144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AND, ANDI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2834640"/>
            <a:ext cx="914400" cy="347472"/>
          </a:xfrm>
          <a:prstGeom prst="rect">
            <a:avLst/>
          </a:prstGeom>
          <a:solidFill>
            <a:srgbClr val="0B1A24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28346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DE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4'b0011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207008" y="2834640"/>
            <a:ext cx="1234440" cy="347472"/>
          </a:xfrm>
          <a:prstGeom prst="rect">
            <a:avLst/>
          </a:prstGeom>
          <a:solidFill>
            <a:srgbClr val="0B1A24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52728" y="283464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  a | b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459736" y="2834640"/>
            <a:ext cx="1691640" cy="347472"/>
          </a:xfrm>
          <a:prstGeom prst="rect">
            <a:avLst/>
          </a:prstGeom>
          <a:solidFill>
            <a:srgbClr val="0B1A24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05456" y="28346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OR, ORI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3227832"/>
            <a:ext cx="914400" cy="347472"/>
          </a:xfrm>
          <a:prstGeom prst="rect">
            <a:avLst/>
          </a:prstGeom>
          <a:solidFill>
            <a:srgbClr val="0A1A28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322783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DE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4'b0100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207008" y="3227832"/>
            <a:ext cx="1234440" cy="347472"/>
          </a:xfrm>
          <a:prstGeom prst="rect">
            <a:avLst/>
          </a:prstGeom>
          <a:solidFill>
            <a:srgbClr val="0A1A28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52728" y="322783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XOR  a ^ b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459736" y="3227832"/>
            <a:ext cx="1691640" cy="347472"/>
          </a:xfrm>
          <a:prstGeom prst="rect">
            <a:avLst/>
          </a:prstGeom>
          <a:solidFill>
            <a:srgbClr val="0A1A28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05456" y="322783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XOR, XORI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3621024"/>
            <a:ext cx="914400" cy="347472"/>
          </a:xfrm>
          <a:prstGeom prst="rect">
            <a:avLst/>
          </a:prstGeom>
          <a:solidFill>
            <a:srgbClr val="0B1A24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362102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DE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4'b0101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207008" y="3621024"/>
            <a:ext cx="1234440" cy="347472"/>
          </a:xfrm>
          <a:prstGeom prst="rect">
            <a:avLst/>
          </a:prstGeom>
          <a:solidFill>
            <a:srgbClr val="0B1A24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252728" y="362102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SLT  a&lt;b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459736" y="3621024"/>
            <a:ext cx="1691640" cy="347472"/>
          </a:xfrm>
          <a:prstGeom prst="rect">
            <a:avLst/>
          </a:prstGeom>
          <a:solidFill>
            <a:srgbClr val="0B1A24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05456" y="362102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SLT, SLTI (signed)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4320" y="4014216"/>
            <a:ext cx="914400" cy="347472"/>
          </a:xfrm>
          <a:prstGeom prst="rect">
            <a:avLst/>
          </a:prstGeom>
          <a:solidFill>
            <a:srgbClr val="0A1A28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401421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DE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4'b0110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207008" y="4014216"/>
            <a:ext cx="1234440" cy="347472"/>
          </a:xfrm>
          <a:prstGeom prst="rect">
            <a:avLst/>
          </a:prstGeom>
          <a:solidFill>
            <a:srgbClr val="0A1A28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252728" y="401421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SLL  a&lt;&lt;b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459736" y="4014216"/>
            <a:ext cx="1691640" cy="347472"/>
          </a:xfrm>
          <a:prstGeom prst="rect">
            <a:avLst/>
          </a:prstGeom>
          <a:solidFill>
            <a:srgbClr val="0A1A28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05456" y="401421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SLL, SLLI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74320" y="4407408"/>
            <a:ext cx="914400" cy="347472"/>
          </a:xfrm>
          <a:prstGeom prst="rect">
            <a:avLst/>
          </a:prstGeom>
          <a:solidFill>
            <a:srgbClr val="0B1A24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" y="440740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DE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4'b0111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207008" y="4407408"/>
            <a:ext cx="1234440" cy="347472"/>
          </a:xfrm>
          <a:prstGeom prst="rect">
            <a:avLst/>
          </a:prstGeom>
          <a:solidFill>
            <a:srgbClr val="0B1A24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252728" y="440740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SRL  a&gt;&gt;b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459736" y="4407408"/>
            <a:ext cx="1691640" cy="347472"/>
          </a:xfrm>
          <a:prstGeom prst="rect">
            <a:avLst/>
          </a:prstGeom>
          <a:solidFill>
            <a:srgbClr val="0B1A24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05456" y="440740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SRL, SRLI (logical)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74320" y="4800600"/>
            <a:ext cx="914400" cy="347472"/>
          </a:xfrm>
          <a:prstGeom prst="rect">
            <a:avLst/>
          </a:prstGeom>
          <a:solidFill>
            <a:srgbClr val="0A1A28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0040" y="48006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DE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4'b1000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1207008" y="4800600"/>
            <a:ext cx="1234440" cy="347472"/>
          </a:xfrm>
          <a:prstGeom prst="rect">
            <a:avLst/>
          </a:prstGeom>
          <a:solidFill>
            <a:srgbClr val="0A1A28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252728" y="480060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SRA  a&gt;&gt;&gt;b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459736" y="4800600"/>
            <a:ext cx="1691640" cy="347472"/>
          </a:xfrm>
          <a:prstGeom prst="rect">
            <a:avLst/>
          </a:prstGeom>
          <a:solidFill>
            <a:srgbClr val="0A1A28"/>
          </a:solidFill>
          <a:ln w="12700">
            <a:solidFill>
              <a:srgbClr val="1A344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505456" y="48006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SRA, SRAI (arith)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56032" y="4809744"/>
            <a:ext cx="4160520" cy="164592"/>
          </a:xfrm>
          <a:prstGeom prst="rect">
            <a:avLst/>
          </a:prstGeom>
          <a:solidFill>
            <a:srgbClr val="0D2010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0040" y="4809744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896"/>
                </a:solidFill>
              </a:rPr>
              <a:t>zero = (result == 32'b0)  →  used by BEQ/BNE branch control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572000" y="868680"/>
            <a:ext cx="4343400" cy="4114800"/>
          </a:xfrm>
          <a:prstGeom prst="rect">
            <a:avLst/>
          </a:prstGeom>
          <a:solidFill>
            <a:srgbClr val="020B10"/>
          </a:solidFill>
          <a:ln w="12700">
            <a:solidFill>
              <a:srgbClr val="00C89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4572000" y="868680"/>
            <a:ext cx="685800" cy="2011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0" y="86868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0E15"/>
                </a:solidFill>
              </a:rPr>
              <a:t>SV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4681728" y="1088136"/>
            <a:ext cx="4142232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alu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 logic [31:0] a, b,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 logic [3:0]  alu_ctrl,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 logic [31:0] result,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 logic        zero     // BEQ flag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always_comb begin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(alu_ctrl)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4'b0000: result = a + b;          // ADD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4'b0001: result = a - b;          // SUB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4'b0010: result = a &amp; b;          // AND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4'b0011: result = a | b;          // 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4'b0100: result = a ^ b;          // XOR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4'b0101: result = {{31{1'b0}},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($signed(a)&lt;$signed(b))}; // SLT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4'b0110: result = a &lt;&lt; b[4:0];    // SLL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4'b0111: result = a &gt;&gt; b[4:0];    // SRL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4'b1000: result = $signed(a)&gt;&gt;&gt;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b[4:0];                  // SRA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default: result = 32'hx;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endcase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assign zero = (result == 32'b0);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endmodule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─── ALU Control Decoder ──────────────────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alu_control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 logic [1:0] ALUOp,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 logic [2:0] funct3,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 logic       funct7_5,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 logic [3:0] alu_ctrl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always_comb begin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(ALUOp)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2'b00: alu_ctrl = 4'b0000; // ADD (LW/SW)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2'b01: alu_ctrl = 4'b0001; // SUB (BEQ)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2'b10: // R-type: use funct3/funct7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 (funct3)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3'b000: alu_ctrl = funct7_5 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4'b0001 : 4'b0000; // SUB/ADD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3'b111: alu_ctrl = 4'b0010; // AND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3'b110: alu_ctrl = 4'b0011; // 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3'b100: alu_ctrl = 4'b0100; // XOR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3'b010: alu_ctrl = 4'b0101; // SLT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3'b001: alu_ctrl = 4'b0110; // SLL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3'b101: alu_ctrl = funct7_5 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4'b1000 : 4'b0111; // SRA/SRL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default:alu_ctrl = 4'b0000;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endcase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default: alu_ctrl = 4'b0000;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endcase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endmodule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28016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Generator — Sign Extension for All Formats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704088"/>
            <a:ext cx="8375904" cy="228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14400"/>
            <a:ext cx="4114800" cy="658368"/>
          </a:xfrm>
          <a:prstGeom prst="rect">
            <a:avLst/>
          </a:prstGeom>
          <a:solidFill>
            <a:srgbClr val="0B1A24"/>
          </a:solidFill>
          <a:ln w="15240">
            <a:solidFill>
              <a:srgbClr val="0EA5E9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14400"/>
            <a:ext cx="77724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91440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I-type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9692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instr[31:20]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97280" y="12618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→ ADDI, LW, JALR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37560" y="1024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EA5E9"/>
                </a:solidFill>
              </a:rPr>
              <a:t>sign_ext[31:0]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6032" y="1691640"/>
            <a:ext cx="4114800" cy="658368"/>
          </a:xfrm>
          <a:prstGeom prst="rect">
            <a:avLst/>
          </a:prstGeom>
          <a:solidFill>
            <a:srgbClr val="0B1A24"/>
          </a:solidFill>
          <a:ln w="15240">
            <a:solidFill>
              <a:srgbClr val="00C89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91640"/>
            <a:ext cx="777240" cy="6583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9164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S-type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17465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instr[31:25] + [11:7]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97280" y="20391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→ SW, SH, SB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37560" y="18013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C896"/>
                </a:solidFill>
              </a:rPr>
              <a:t>sign_ext[31:0]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6032" y="2468880"/>
            <a:ext cx="4114800" cy="658368"/>
          </a:xfrm>
          <a:prstGeom prst="rect">
            <a:avLst/>
          </a:prstGeom>
          <a:solidFill>
            <a:srgbClr val="0B1A24"/>
          </a:solidFill>
          <a:ln w="1524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468880"/>
            <a:ext cx="77724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46888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B-type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25237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[31][7][30:25][11:8]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97280" y="28163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→ BEQ, BNE, BLT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37560" y="25786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59E0B"/>
                </a:solidFill>
              </a:rPr>
              <a:t>sign_ext[31:0]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6032" y="3246120"/>
            <a:ext cx="4114800" cy="658368"/>
          </a:xfrm>
          <a:prstGeom prst="rect">
            <a:avLst/>
          </a:prstGeom>
          <a:solidFill>
            <a:srgbClr val="0B1A24"/>
          </a:solidFill>
          <a:ln w="15240">
            <a:solidFill>
              <a:srgbClr val="A78BFA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3246120"/>
            <a:ext cx="777240" cy="658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324612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U-type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33009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instr[31:12] &lt;&lt; 12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97280" y="35935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→ LUI, AUIPC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37560" y="33558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78BFA"/>
                </a:solidFill>
              </a:rPr>
              <a:t>sign_ext[31:0]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56032" y="4023360"/>
            <a:ext cx="4114800" cy="658368"/>
          </a:xfrm>
          <a:prstGeom prst="rect">
            <a:avLst/>
          </a:prstGeom>
          <a:solidFill>
            <a:srgbClr val="0B1A24"/>
          </a:solidFill>
          <a:ln w="15240">
            <a:solidFill>
              <a:srgbClr val="F87171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" y="4023360"/>
            <a:ext cx="777240" cy="65836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" y="402336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J-type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97280" y="40782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[31][19:12][20][30:21]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97280" y="43708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→ JAL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37560" y="4133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87171"/>
                </a:solidFill>
              </a:rPr>
              <a:t>sign_ext[31:0]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0" y="868680"/>
            <a:ext cx="4343400" cy="4114800"/>
          </a:xfrm>
          <a:prstGeom prst="rect">
            <a:avLst/>
          </a:prstGeom>
          <a:solidFill>
            <a:srgbClr val="020B10"/>
          </a:solidFill>
          <a:ln w="12700">
            <a:solidFill>
              <a:srgbClr val="00C89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0" y="868680"/>
            <a:ext cx="685800" cy="2011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86868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0E15"/>
                </a:solidFill>
              </a:rPr>
              <a:t>SV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681728" y="1088136"/>
            <a:ext cx="4142232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imm_generator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 logic [31:0] instr,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 logic [31:0] imm_out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logic [6:0] opcode;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assign opcode = instr[6:0];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always_comb begin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(opcode)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I-type: ADDI, LW, JALR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7'b0010011, 7'b0000011, 7'b1100111: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imm_out = {{20{instr[31]}},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instr[31:20]};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S-type: SW, SH, SB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7'b0100011: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imm_out = {{20{instr[31]}},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instr[31:25],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instr[11:7]};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B-type: BEQ, BNE, BLT, BGE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7'b1100011: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imm_out = {{19{instr[31]}},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instr[31],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instr[7],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instr[30:25],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instr[11:8],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1'b0};       // &lt;&lt;1 (word align)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U-type: LUI, AUIPC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7'b0110111, 7'b0010111: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imm_out = {instr[31:12],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12'b0};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J-type: JAL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7'b1101111: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imm_out = {{11{instr[31]}},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instr[31],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instr[19:12],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instr[20],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instr[30:21],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1'b0};       // &lt;&lt;1 (word align)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default: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imm_out = 32'b0;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endcase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endmodule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56032" y="4800600"/>
            <a:ext cx="4114800" cy="256032"/>
          </a:xfrm>
          <a:prstGeom prst="rect">
            <a:avLst/>
          </a:prstGeom>
          <a:solidFill>
            <a:srgbClr val="0D2010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48006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C896"/>
                </a:solidFill>
              </a:rPr>
              <a:t>💡  B/J types include a left-shift by 1 embedded in the wiring — branch targets are always even addresses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28016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Core — Top-Level RTL Integration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704088"/>
            <a:ext cx="8375904" cy="228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868680"/>
            <a:ext cx="8631936" cy="4160520"/>
          </a:xfrm>
          <a:prstGeom prst="rect">
            <a:avLst/>
          </a:prstGeom>
          <a:solidFill>
            <a:srgbClr val="020B10"/>
          </a:solidFill>
          <a:ln w="12700">
            <a:solidFill>
              <a:srgbClr val="00C89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68680"/>
            <a:ext cx="685800" cy="2011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6868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0E15"/>
                </a:solidFill>
              </a:rPr>
              <a:t>SV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088136"/>
            <a:ext cx="8430768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─── Top-Level Single-Cycle RISC-V Core ─────────────────────────────────────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riscv_core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 logic        clk, rst,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Instruction memory interface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 logic [31:0] imem_addr,     // PC → instruction memory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 logic [31:0] imem_rdata,    // instruction word from memory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Data memory interface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 logic [31:0] dmem_addr,     // ALU result → data memory address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 logic [31:0] dmem_wdata,    // rs2 → data memory write data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 logic        dmem_we,       // MemWrite control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 logic        dmem_re,       // MemRead control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 logic [31:0] dmem_rdata     // data memory read data → WB mux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── Internal wires ────────────────────────────────────────────────────────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logic [31:0] pc, pc_next, pc_plus4, branch_tgt, jump_tgt;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logic [31:0] instr;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logic [31:0] rs1_data, rs2_data, wd;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logic [31:0] imm;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logic [31:0] alu_b, alu_result;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logic        zero;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logic [3:0]  alu_ctrl;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── Control signals ────────────────────────────────────────────────────────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logic RegWrite, MemRead, MemWrite, ALUSrc, Branch, Jump, MemToReg;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logic [1:0] ALUOp;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logic branch_taken;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── Instruction fetch ──────────────────────────────────────────────────────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assign imem_addr   = pc;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assign instr       = imem_rdata;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── Module instantiations ─────────────────────────────────────────────────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pc_register   PC   (.clk, .rst, .pc_next, .pc);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pc_adder      ADD4 (.pc, .pc_plus4);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control_unit  CU   (.opcode(instr[6:0]),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.RegWrite, .MemRead, .MemWrite,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.ALUSrc,   .Branch,  .Jump,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.MemToReg, .ALUOp);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register_file RF   (.clk, .rs1(instr[19:15]), .rs2(instr[24:20]),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.rd(instr[11:7]),  .we(RegWrite), .wd,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.rd1(rs1_data), .rd2(rs2_data));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imm_generator IG   (.instr, .imm_out(imm));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alu_control   AC   (.ALUOp, .funct3(instr[14:12]),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.funct7_5(instr[30]), .alu_ctrl);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alu           ALU  (.a(rs1_data), .b(alu_b), .alu_ctrl, .result(alu_result), .zero);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── Datapath glue ─────────────────────────────────────────────────────────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assign alu_b       = ALUSrc    ? imm        : rs2_data;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assign branch_taken= Branch    &amp; zero;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assign branch_tgt  = pc + imm;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assign jump_tgt    = pc + imm;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assign pc_next     = Jump      ? jump_tgt   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branch_taken ? branch_tgt : pc_plus4;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assign wd          = MemToReg  ? dmem_rdata : alu_result;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── Memory interface ──────────────────────────────────────────────────────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assign dmem_addr   = alu_result;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assign dmem_wdata  = rs2_data;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assign dmem_we     = MemWrite;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assign dmem_re     = MemRead;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endmodule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" y="5084064"/>
            <a:ext cx="8631936" cy="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28016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&amp; Debugging — Testbench and Waveform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704088"/>
            <a:ext cx="8375904" cy="228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868680"/>
            <a:ext cx="4846320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868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ALU Testbench — SystemVerilog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1261872"/>
            <a:ext cx="4846320" cy="3703320"/>
          </a:xfrm>
          <a:prstGeom prst="rect">
            <a:avLst/>
          </a:prstGeom>
          <a:solidFill>
            <a:srgbClr val="020B10"/>
          </a:solidFill>
          <a:ln w="12700">
            <a:solidFill>
              <a:srgbClr val="00C89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261872"/>
            <a:ext cx="685800" cy="2011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26187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0E15"/>
                </a:solidFill>
              </a:rPr>
              <a:t>SV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481328"/>
            <a:ext cx="4645152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tb_alu;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logic [31:0] a, b, result;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logic [3:0]  alu_ctrl;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logic        zero;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Instantiate DUT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alu dut (.a,.b,.alu_ctrl,.result,.zero);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Clock + VCD dump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initial begin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$dumpfile("alu_wave.vcd");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$dumpvars(0, tb_alu);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Test vectors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initial begin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Test ADD: 15 + 27 = 42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a=32'd15; b=32'd27; alu_ctrl=4'b0000;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#10; assert(result==42 &amp;&amp; zero==0)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else $error("ADD FAIL");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Test SUB: 42 - 42 = 0 (zero=1)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a=32'd42; b=32'd42; alu_ctrl=4'b0001;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#10; assert(result==0 &amp;&amp; zero==1)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else $error("SUB/zero FAIL");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Test AND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a=32'hFF00; b=32'h0FF0; alu_ctrl=4'b0010;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#10; assert(result==32'h0F00)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else $error("AND FAIL");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Test SLT: 5 &lt; 10 → result=1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a=32'd5; b=32'd10; alu_ctrl=4'b0101;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#10; assert(result==1)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else $error("SLT FAIL");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$display("ALL TESTS PASSED");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$finish;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endmodule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57800" y="868680"/>
            <a:ext cx="3657600" cy="3657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7800" y="868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E15"/>
                </a:solidFill>
              </a:rPr>
              <a:t>Simulation Waveform (GTKWave)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57800" y="1261872"/>
            <a:ext cx="3657600" cy="2331720"/>
          </a:xfrm>
          <a:prstGeom prst="rect">
            <a:avLst/>
          </a:prstGeom>
          <a:solidFill>
            <a:srgbClr val="020B10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85232" y="137160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896"/>
                </a:solidFill>
              </a:rPr>
              <a:t>a[31:0]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285232" y="181051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EA5E9"/>
                </a:solidFill>
              </a:rPr>
              <a:t>b[31:0]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285232" y="224942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</a:rPr>
              <a:t>ctrl[3:0]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285232" y="268833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DE047"/>
                </a:solidFill>
              </a:rPr>
              <a:t>result[31:0]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85232" y="312724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87171"/>
                </a:solidFill>
              </a:rPr>
              <a:t>zero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86400" y="1426464"/>
            <a:ext cx="749808" cy="250180"/>
          </a:xfrm>
          <a:prstGeom prst="rect">
            <a:avLst/>
          </a:prstGeom>
          <a:solidFill>
            <a:srgbClr val="00C896">
              <a:alpha val="42000"/>
            </a:srgbClr>
          </a:solidFill>
          <a:ln w="10160">
            <a:solidFill>
              <a:srgbClr val="00C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22976" y="146304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254496" y="1426464"/>
            <a:ext cx="749808" cy="250180"/>
          </a:xfrm>
          <a:prstGeom prst="rect">
            <a:avLst/>
          </a:prstGeom>
          <a:solidFill>
            <a:srgbClr val="00C896">
              <a:alpha val="42000"/>
            </a:srgbClr>
          </a:solidFill>
          <a:ln w="10160">
            <a:solidFill>
              <a:srgbClr val="00C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1072" y="146304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022592" y="1426464"/>
            <a:ext cx="749808" cy="250180"/>
          </a:xfrm>
          <a:prstGeom prst="rect">
            <a:avLst/>
          </a:prstGeom>
          <a:solidFill>
            <a:srgbClr val="00C896">
              <a:alpha val="42000"/>
            </a:srgbClr>
          </a:solidFill>
          <a:ln w="10160">
            <a:solidFill>
              <a:srgbClr val="00C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59168" y="146304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FF00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790688" y="1426464"/>
            <a:ext cx="749808" cy="250180"/>
          </a:xfrm>
          <a:prstGeom prst="rect">
            <a:avLst/>
          </a:prstGeom>
          <a:solidFill>
            <a:srgbClr val="00C896">
              <a:alpha val="42000"/>
            </a:srgbClr>
          </a:solidFill>
          <a:ln w="10160">
            <a:solidFill>
              <a:srgbClr val="00C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27264" y="146304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486400" y="1865376"/>
            <a:ext cx="749808" cy="250180"/>
          </a:xfrm>
          <a:prstGeom prst="rect">
            <a:avLst/>
          </a:prstGeom>
          <a:solidFill>
            <a:srgbClr val="0EA5E9">
              <a:alpha val="42000"/>
            </a:srgbClr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22976" y="190195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254496" y="1865376"/>
            <a:ext cx="749808" cy="250180"/>
          </a:xfrm>
          <a:prstGeom prst="rect">
            <a:avLst/>
          </a:prstGeom>
          <a:solidFill>
            <a:srgbClr val="0EA5E9">
              <a:alpha val="42000"/>
            </a:srgbClr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91072" y="190195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022592" y="1865376"/>
            <a:ext cx="749808" cy="250180"/>
          </a:xfrm>
          <a:prstGeom prst="rect">
            <a:avLst/>
          </a:prstGeom>
          <a:solidFill>
            <a:srgbClr val="0EA5E9">
              <a:alpha val="42000"/>
            </a:srgbClr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59168" y="190195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0FF0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790688" y="1865376"/>
            <a:ext cx="749808" cy="250180"/>
          </a:xfrm>
          <a:prstGeom prst="rect">
            <a:avLst/>
          </a:prstGeom>
          <a:solidFill>
            <a:srgbClr val="0EA5E9">
              <a:alpha val="42000"/>
            </a:srgbClr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27264" y="190195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486400" y="2304288"/>
            <a:ext cx="749808" cy="250180"/>
          </a:xfrm>
          <a:prstGeom prst="rect">
            <a:avLst/>
          </a:prstGeom>
          <a:solidFill>
            <a:srgbClr val="F59E0B">
              <a:alpha val="42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22976" y="234086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254496" y="2304288"/>
            <a:ext cx="749808" cy="250180"/>
          </a:xfrm>
          <a:prstGeom prst="rect">
            <a:avLst/>
          </a:prstGeom>
          <a:solidFill>
            <a:srgbClr val="F59E0B">
              <a:alpha val="42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91072" y="234086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022592" y="2304288"/>
            <a:ext cx="749808" cy="250180"/>
          </a:xfrm>
          <a:prstGeom prst="rect">
            <a:avLst/>
          </a:prstGeom>
          <a:solidFill>
            <a:srgbClr val="F59E0B">
              <a:alpha val="42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59168" y="234086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790688" y="2304288"/>
            <a:ext cx="749808" cy="250180"/>
          </a:xfrm>
          <a:prstGeom prst="rect">
            <a:avLst/>
          </a:prstGeom>
          <a:solidFill>
            <a:srgbClr val="F59E0B">
              <a:alpha val="42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27264" y="234086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486400" y="2743200"/>
            <a:ext cx="749808" cy="250180"/>
          </a:xfrm>
          <a:prstGeom prst="rect">
            <a:avLst/>
          </a:prstGeom>
          <a:solidFill>
            <a:srgbClr val="FDE047">
              <a:alpha val="42000"/>
            </a:srgbClr>
          </a:solidFill>
          <a:ln w="10160">
            <a:solidFill>
              <a:srgbClr val="FDE04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22976" y="27797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DE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254496" y="2743200"/>
            <a:ext cx="749808" cy="250180"/>
          </a:xfrm>
          <a:prstGeom prst="rect">
            <a:avLst/>
          </a:prstGeom>
          <a:solidFill>
            <a:srgbClr val="FDE047">
              <a:alpha val="42000"/>
            </a:srgbClr>
          </a:solidFill>
          <a:ln w="10160">
            <a:solidFill>
              <a:srgbClr val="FDE04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91072" y="27797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DE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022592" y="2743200"/>
            <a:ext cx="749808" cy="250180"/>
          </a:xfrm>
          <a:prstGeom prst="rect">
            <a:avLst/>
          </a:prstGeom>
          <a:solidFill>
            <a:srgbClr val="FDE047">
              <a:alpha val="42000"/>
            </a:srgbClr>
          </a:solidFill>
          <a:ln w="10160">
            <a:solidFill>
              <a:srgbClr val="FDE04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59168" y="27797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DE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F00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790688" y="2743200"/>
            <a:ext cx="749808" cy="250180"/>
          </a:xfrm>
          <a:prstGeom prst="rect">
            <a:avLst/>
          </a:prstGeom>
          <a:solidFill>
            <a:srgbClr val="FDE047">
              <a:alpha val="42000"/>
            </a:srgbClr>
          </a:solidFill>
          <a:ln w="10160">
            <a:solidFill>
              <a:srgbClr val="FDE04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827264" y="27797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DE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486400" y="3335731"/>
            <a:ext cx="365760" cy="104242"/>
          </a:xfrm>
          <a:prstGeom prst="rect">
            <a:avLst/>
          </a:prstGeom>
          <a:solidFill>
            <a:srgbClr val="F87171">
              <a:alpha val="65000"/>
            </a:srgbClr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870448" y="3335731"/>
            <a:ext cx="365760" cy="104242"/>
          </a:xfrm>
          <a:prstGeom prst="rect">
            <a:avLst/>
          </a:prstGeom>
          <a:solidFill>
            <a:srgbClr val="F87171">
              <a:alpha val="65000"/>
            </a:srgbClr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54496" y="3163824"/>
            <a:ext cx="365760" cy="191110"/>
          </a:xfrm>
          <a:prstGeom prst="rect">
            <a:avLst/>
          </a:prstGeom>
          <a:solidFill>
            <a:srgbClr val="F87171">
              <a:alpha val="65000"/>
            </a:srgbClr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38544" y="3163824"/>
            <a:ext cx="365760" cy="191110"/>
          </a:xfrm>
          <a:prstGeom prst="rect">
            <a:avLst/>
          </a:prstGeom>
          <a:solidFill>
            <a:srgbClr val="F87171">
              <a:alpha val="65000"/>
            </a:srgbClr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022592" y="3335731"/>
            <a:ext cx="365760" cy="104242"/>
          </a:xfrm>
          <a:prstGeom prst="rect">
            <a:avLst/>
          </a:prstGeom>
          <a:solidFill>
            <a:srgbClr val="F87171">
              <a:alpha val="65000"/>
            </a:srgbClr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406640" y="3335731"/>
            <a:ext cx="365760" cy="104242"/>
          </a:xfrm>
          <a:prstGeom prst="rect">
            <a:avLst/>
          </a:prstGeom>
          <a:solidFill>
            <a:srgbClr val="F87171">
              <a:alpha val="65000"/>
            </a:srgbClr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790688" y="3335731"/>
            <a:ext cx="365760" cy="104242"/>
          </a:xfrm>
          <a:prstGeom prst="rect">
            <a:avLst/>
          </a:prstGeom>
          <a:solidFill>
            <a:srgbClr val="F87171">
              <a:alpha val="65000"/>
            </a:srgbClr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174736" y="3335731"/>
            <a:ext cx="365760" cy="104242"/>
          </a:xfrm>
          <a:prstGeom prst="rect">
            <a:avLst/>
          </a:prstGeom>
          <a:solidFill>
            <a:srgbClr val="F87171">
              <a:alpha val="65000"/>
            </a:srgbClr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257800" y="3703320"/>
            <a:ext cx="3657600" cy="1261872"/>
          </a:xfrm>
          <a:prstGeom prst="rect">
            <a:avLst/>
          </a:prstGeom>
          <a:solidFill>
            <a:srgbClr val="0B1A24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257800" y="3703320"/>
            <a:ext cx="365760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257800" y="3703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⚡  Debug Checklist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376672" y="4078224"/>
            <a:ext cx="3474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896"/>
                </a:solidFill>
              </a:rPr>
              <a:t>✓  Always check x0 never changes (stays 0)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376672" y="4242816"/>
            <a:ext cx="3474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896"/>
                </a:solidFill>
              </a:rPr>
              <a:t>✓  Verify ALU zero flag triggers branch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5376672" y="4407408"/>
            <a:ext cx="3474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✓  Check sign extension for negative immediates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376672" y="4572000"/>
            <a:ext cx="3474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✓  Confirm MemWrite=0 for non-store instructions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376672" y="4736592"/>
            <a:ext cx="3474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✓  Use $display to print register state each cycle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28016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Commands — Icarus Verilog &amp; GTKWave Workflow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704088"/>
            <a:ext cx="8375904" cy="228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868680"/>
            <a:ext cx="3246120" cy="1993392"/>
          </a:xfrm>
          <a:prstGeom prst="rect">
            <a:avLst/>
          </a:prstGeom>
          <a:solidFill>
            <a:srgbClr val="0B1A24"/>
          </a:solidFill>
          <a:ln w="15240">
            <a:solidFill>
              <a:srgbClr val="00C89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68680"/>
            <a:ext cx="3246120" cy="3200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686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1.  Write RTL Files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216152"/>
            <a:ext cx="3246120" cy="1627632"/>
          </a:xfrm>
          <a:prstGeom prst="rect">
            <a:avLst/>
          </a:prstGeom>
          <a:solidFill>
            <a:srgbClr val="020B10"/>
          </a:solidFill>
          <a:ln w="12700">
            <a:solidFill>
              <a:srgbClr val="00C89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307592"/>
            <a:ext cx="3044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Project structure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pc_register.sv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register_file.sv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alu.sv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alu_control.sv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imm_generator.sv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control_unit.sv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riscv_core.sv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tb/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tb_alu.sv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tb_riscv_core.sv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85032" y="868680"/>
            <a:ext cx="3246120" cy="1993392"/>
          </a:xfrm>
          <a:prstGeom prst="rect">
            <a:avLst/>
          </a:prstGeom>
          <a:solidFill>
            <a:srgbClr val="0B1A24"/>
          </a:solidFill>
          <a:ln w="15240">
            <a:solidFill>
              <a:srgbClr val="0EA5E9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85032" y="868680"/>
            <a:ext cx="3246120" cy="320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85032" y="8686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2.  Compile with iverilog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85032" y="1216152"/>
            <a:ext cx="3246120" cy="1627632"/>
          </a:xfrm>
          <a:prstGeom prst="rect">
            <a:avLst/>
          </a:prstGeom>
          <a:solidFill>
            <a:srgbClr val="020B10"/>
          </a:solidFill>
          <a:ln w="12700">
            <a:solidFill>
              <a:srgbClr val="00C89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94760" y="1307592"/>
            <a:ext cx="3044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Compile all RTL + testbench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iverilog -g2012 -o sim.out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src/*.sv tb/tb_alu.sv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for syntax errors first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iverilog -tnull -g2012 src/alu.sv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Expected output: no errors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Any warnings = fix before sim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114032" y="868680"/>
            <a:ext cx="1783080" cy="1993392"/>
          </a:xfrm>
          <a:prstGeom prst="rect">
            <a:avLst/>
          </a:prstGeom>
          <a:solidFill>
            <a:srgbClr val="0B1A24"/>
          </a:solidFill>
          <a:ln w="1524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14032" y="868680"/>
            <a:ext cx="178308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14032" y="8686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3.  Run Simulation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14032" y="1216152"/>
            <a:ext cx="1783080" cy="1627632"/>
          </a:xfrm>
          <a:prstGeom prst="rect">
            <a:avLst/>
          </a:prstGeom>
          <a:solidFill>
            <a:srgbClr val="020B10"/>
          </a:solidFill>
          <a:ln w="12700">
            <a:solidFill>
              <a:srgbClr val="00C89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23760" y="1307592"/>
            <a:ext cx="15819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Execute simulation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vvp sim.out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 example: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Time=10: a=15 b=27 result=42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Time=20: a=42 b=42 result=0 zero=1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ALL TESTS PASSED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$finish called at time 50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2999232"/>
            <a:ext cx="3246120" cy="1984248"/>
          </a:xfrm>
          <a:prstGeom prst="rect">
            <a:avLst/>
          </a:prstGeom>
          <a:solidFill>
            <a:srgbClr val="0B1A24"/>
          </a:solidFill>
          <a:ln w="15240">
            <a:solidFill>
              <a:srgbClr val="A78BFA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999232"/>
            <a:ext cx="3246120" cy="3200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29992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4.  View Waveforms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" y="3346704"/>
            <a:ext cx="3246120" cy="1618488"/>
          </a:xfrm>
          <a:prstGeom prst="rect">
            <a:avLst/>
          </a:prstGeom>
          <a:solidFill>
            <a:srgbClr val="020B10"/>
          </a:solidFill>
          <a:ln w="12700">
            <a:solidFill>
              <a:srgbClr val="00C89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3438144"/>
            <a:ext cx="304495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 GTKWave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gtkwave alu_wave.vcd &amp;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 GTKWave: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File → Open New Tab → alu_wave.vcd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SST panel: expand tb_alu → dut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Drag signals: a, b, alu_ctrl,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       result, zero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Press Ctrl+Shift+F (fit view)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Use markers to measure timing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85032" y="2999232"/>
            <a:ext cx="3246120" cy="1984248"/>
          </a:xfrm>
          <a:prstGeom prst="rect">
            <a:avLst/>
          </a:prstGeom>
          <a:solidFill>
            <a:srgbClr val="0B1A24"/>
          </a:solidFill>
          <a:ln w="15240">
            <a:solidFill>
              <a:srgbClr val="F87171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85032" y="2999232"/>
            <a:ext cx="3246120" cy="3200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85032" y="29992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5.  Synthesize (Vivado)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85032" y="3346704"/>
            <a:ext cx="3246120" cy="1618488"/>
          </a:xfrm>
          <a:prstGeom prst="rect">
            <a:avLst/>
          </a:prstGeom>
          <a:solidFill>
            <a:srgbClr val="020B10"/>
          </a:solidFill>
          <a:ln w="12700">
            <a:solidFill>
              <a:srgbClr val="00C89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794760" y="3438144"/>
            <a:ext cx="304495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Xilinx Vivado TCL flow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create_project riscv ./proj -part xc7a35t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add_files [glob src/*.sv]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set_property top riscv_core [current_fileset]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synthesis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launch_runs synth_1 -jobs 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wait_on_run synth_1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utilization report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report_utilization -file util.txt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114032" y="2999232"/>
            <a:ext cx="1783080" cy="1984248"/>
          </a:xfrm>
          <a:prstGeom prst="rect">
            <a:avLst/>
          </a:prstGeom>
          <a:solidFill>
            <a:srgbClr val="0B1A24"/>
          </a:solidFill>
          <a:ln w="15240">
            <a:solidFill>
              <a:srgbClr val="FDE047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114032" y="2999232"/>
            <a:ext cx="1783080" cy="320040"/>
          </a:xfrm>
          <a:prstGeom prst="rect">
            <a:avLst/>
          </a:prstGeom>
          <a:solidFill>
            <a:srgbClr val="FDE047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14032" y="29992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Tip: Coverage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05472" y="3383280"/>
            <a:ext cx="1600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Run both: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• Functional sim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  (does it work?)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• Gate-level sim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  (after synth,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   does timing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   hold?)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Use $monitor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for continuous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signal watching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28016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Key Takeaways — What You Should Leave Knowing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704088"/>
            <a:ext cx="8375904" cy="228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868680"/>
            <a:ext cx="4251960" cy="896112"/>
          </a:xfrm>
          <a:prstGeom prst="rect">
            <a:avLst/>
          </a:prstGeom>
          <a:solidFill>
            <a:srgbClr val="0B1A24"/>
          </a:solidFill>
          <a:ln w="12700">
            <a:solidFill>
              <a:srgbClr val="00C89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68680"/>
            <a:ext cx="502920" cy="89611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68680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0E15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0392" y="9418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Single-cycle = one instruction per clock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0392" y="123444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Every instruction completes in 1 cycle. Simple but slow — critical path = slowest instruction (usually LW).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868680"/>
            <a:ext cx="4251960" cy="896112"/>
          </a:xfrm>
          <a:prstGeom prst="rect">
            <a:avLst/>
          </a:prstGeom>
          <a:solidFill>
            <a:srgbClr val="0B1A24"/>
          </a:solidFill>
          <a:ln w="12700">
            <a:solidFill>
              <a:srgbClr val="0EA5E9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868680"/>
            <a:ext cx="502920" cy="89611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868680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0E15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57800" y="9418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Datapath flows are instruction-specific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257800" y="123444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Each instruction drives a unique path through the blocks. Opcode selects which path via control signals.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6032" y="1892808"/>
            <a:ext cx="4251960" cy="896112"/>
          </a:xfrm>
          <a:prstGeom prst="rect">
            <a:avLst/>
          </a:prstGeom>
          <a:solidFill>
            <a:srgbClr val="0B1A24"/>
          </a:solidFill>
          <a:ln w="1270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1892808"/>
            <a:ext cx="502920" cy="8961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1892808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0E15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0392" y="19659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Control Unit is purely combinational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50392" y="225856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Input: opcode[6:0]. Output: 7 control bits + ALUOp[1:0]. No registers — outputs change instantly with opcode.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1892808"/>
            <a:ext cx="4251960" cy="896112"/>
          </a:xfrm>
          <a:prstGeom prst="rect">
            <a:avLst/>
          </a:prstGeom>
          <a:solidFill>
            <a:srgbClr val="0B1A24"/>
          </a:solidFill>
          <a:ln w="12700">
            <a:solidFill>
              <a:srgbClr val="A78BFA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892808"/>
            <a:ext cx="502920" cy="89611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892808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0E15"/>
                </a:solidFill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57800" y="19659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Register File: async read, sync write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57800" y="225856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Reads are combinational (no clock). Writes need posedge clk + we=1. x0 is always hardwired to zero.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" y="2916936"/>
            <a:ext cx="4251960" cy="896112"/>
          </a:xfrm>
          <a:prstGeom prst="rect">
            <a:avLst/>
          </a:prstGeom>
          <a:solidFill>
            <a:srgbClr val="0B1A24"/>
          </a:solidFill>
          <a:ln w="12700">
            <a:solidFill>
              <a:srgbClr val="F87171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2916936"/>
            <a:ext cx="502920" cy="89611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916936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0E15"/>
                </a:solidFill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0392" y="29900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ALU drives the zero flag for branches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50392" y="328269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BEQ computes rs1 - rs2. If result=0, zero=1. Control ORs Branch &amp; zero → branch_taken → PC mux.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916936"/>
            <a:ext cx="4251960" cy="896112"/>
          </a:xfrm>
          <a:prstGeom prst="rect">
            <a:avLst/>
          </a:prstGeom>
          <a:solidFill>
            <a:srgbClr val="0B1A24"/>
          </a:solidFill>
          <a:ln w="12700">
            <a:solidFill>
              <a:srgbClr val="FDE047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916936"/>
            <a:ext cx="502920" cy="896112"/>
          </a:xfrm>
          <a:prstGeom prst="rect">
            <a:avLst/>
          </a:prstGeom>
          <a:solidFill>
            <a:srgbClr val="FDE047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2916936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0E15"/>
                </a:solidFill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57800" y="29900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Immediate generator handles all 5 formats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257800" y="328269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Each instruction type has a unique bit-scrambling pattern. B and J types include the implicit ×2 shift.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6032" y="3941064"/>
            <a:ext cx="4251960" cy="896112"/>
          </a:xfrm>
          <a:prstGeom prst="rect">
            <a:avLst/>
          </a:prstGeom>
          <a:solidFill>
            <a:srgbClr val="0B1A24"/>
          </a:solidFill>
          <a:ln w="12700">
            <a:solidFill>
              <a:srgbClr val="00C89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56032" y="3941064"/>
            <a:ext cx="502920" cy="89611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" y="3941064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0E15"/>
                </a:solidFill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50392" y="40142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Simulate before synthesizing — always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50392" y="430682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Run all testbenches and confirm waveforms match expected behavior before spending time on FPGA synthesis.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3941064"/>
            <a:ext cx="4251960" cy="896112"/>
          </a:xfrm>
          <a:prstGeom prst="rect">
            <a:avLst/>
          </a:prstGeom>
          <a:solidFill>
            <a:srgbClr val="0B1A24"/>
          </a:solidFill>
          <a:ln w="12700">
            <a:solidFill>
              <a:srgbClr val="0EA5E9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3941064"/>
            <a:ext cx="502920" cy="89611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3941064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0E15"/>
                </a:solidFill>
              </a:rPr>
              <a:t>08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257800" y="40142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Tomorrow: pipelining this design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257800" y="430682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Day 3 adds 5 pipeline stages, hazard detection, forwarding logic, and data memory cache interface.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38404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00C896"/>
                </a:solidFill>
              </a:rPr>
              <a:t>Day 2 Complete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0" y="868680"/>
            <a:ext cx="3657600" cy="411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9601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Questions?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1371600" y="2057400"/>
            <a:ext cx="6400800" cy="658368"/>
          </a:xfrm>
          <a:prstGeom prst="rect">
            <a:avLst/>
          </a:prstGeom>
          <a:solidFill>
            <a:srgbClr val="0D2233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05740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</a:rPr>
              <a:t>💬  Ask anything — PC, RegFile, ALU, Control Unit, testbench. No question is too basic.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2852928"/>
            <a:ext cx="6400800" cy="1600200"/>
          </a:xfrm>
          <a:prstGeom prst="rect">
            <a:avLst/>
          </a:prstGeom>
          <a:solidFill>
            <a:srgbClr val="081820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71600" y="2852928"/>
            <a:ext cx="64008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85292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Tomorrow — Day 3:  Pipeline, Hazards &amp; Memory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554480" y="332841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F0F7"/>
                </a:solidFill>
              </a:rPr>
              <a:t>▸  Convert single-cycle to 5-stage pipeline (IF/ID/EX/MEM/WB)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54480" y="364845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F0F7"/>
                </a:solidFill>
              </a:rPr>
              <a:t>▸  Detect and resolve data &amp; control hazards with stalls and forwarding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54480" y="396849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F0F7"/>
                </a:solidFill>
              </a:rPr>
              <a:t>▸  Add data memory cache interface and branch predictor basics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3806</Words>
  <Application>Microsoft Office PowerPoint</Application>
  <PresentationFormat>On-screen Show (16:9)</PresentationFormat>
  <Paragraphs>675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Single-Cycle CPU Datapath &amp; RTL Design</dc:title>
  <dc:subject>PptxGenJS Presentation</dc:subject>
  <dc:creator>PptxGenJS</dc:creator>
  <cp:lastModifiedBy>Prabakaran Elaiyappan</cp:lastModifiedBy>
  <cp:revision>2</cp:revision>
  <dcterms:created xsi:type="dcterms:W3CDTF">2026-04-05T16:50:10Z</dcterms:created>
  <dcterms:modified xsi:type="dcterms:W3CDTF">2026-04-05T11:57:10Z</dcterms:modified>
</cp:coreProperties>
</file>