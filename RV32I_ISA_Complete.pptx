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04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0"/>
            <a:ext cx="502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54864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3657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91440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17373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82880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73152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256032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283464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38328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31089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329184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11480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40233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3474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B82F6"/>
                </a:solidFill>
              </a:rPr>
              <a:t>RISC-V  RV32I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0" y="82296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800" dirty="0"/>
          </a:p>
        </p:txBody>
      </p:sp>
      <p:sp>
        <p:nvSpPr>
          <p:cNvPr id="22" name="Shape 20"/>
          <p:cNvSpPr/>
          <p:nvPr/>
        </p:nvSpPr>
        <p:spPr>
          <a:xfrm>
            <a:off x="3840480" y="2834640"/>
            <a:ext cx="1097280" cy="5029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29443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B923C"/>
                </a:solidFill>
              </a:rPr>
              <a:t>Complete Reference — Formats, Encoding &amp; Decoding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840480" y="3383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4BF"/>
                </a:solidFill>
              </a:rPr>
              <a:t>47 Base Instructions  ·  6 Formats  ·  32×32-bit Registers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0" y="3840480"/>
            <a:ext cx="786384" cy="274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384048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80F"/>
                </a:solidFill>
              </a:rPr>
              <a:t>R-type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0016" y="3840480"/>
            <a:ext cx="786384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384048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80F"/>
                </a:solidFill>
              </a:rPr>
              <a:t>I-type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59552" y="3840480"/>
            <a:ext cx="786384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9552" y="384048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80F"/>
                </a:solidFill>
              </a:rPr>
              <a:t>S-type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19088" y="3840480"/>
            <a:ext cx="786384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9088" y="384048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80F"/>
                </a:solidFill>
              </a:rPr>
              <a:t>B-type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78624" y="3840480"/>
            <a:ext cx="786384" cy="274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78624" y="384048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80F"/>
                </a:solidFill>
              </a:rPr>
              <a:t>U-type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138160" y="3840480"/>
            <a:ext cx="786384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8160" y="384048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80F"/>
                </a:solidFill>
              </a:rPr>
              <a:t>J-type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1168" y="3474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</a:rPr>
              <a:t>What You Will Learn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64592" y="749808"/>
            <a:ext cx="3236976" cy="530352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64592" y="749808"/>
            <a:ext cx="54864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0896" y="822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ISA Overview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10896" y="10789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</a:rPr>
              <a:t>Architecture, registers, design philosophy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64592" y="1353312"/>
            <a:ext cx="3236976" cy="530352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64592" y="1353312"/>
            <a:ext cx="54864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896" y="14264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All 6 Formats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10896" y="16824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</a:rPr>
              <a:t>R / I / S / B / U / J bit-field layouts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64592" y="1956816"/>
            <a:ext cx="3236976" cy="530352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64592" y="1956816"/>
            <a:ext cx="54864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2029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Every Opcode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10896" y="22860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</a:rPr>
              <a:t>All 47 instructions with operations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64592" y="2560320"/>
            <a:ext cx="3236976" cy="530352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64592" y="2560320"/>
            <a:ext cx="54864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" y="26334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Field Encoding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10896" y="28895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</a:rPr>
              <a:t>opcode, funct3, funct7, rs1, rs2, rd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64592" y="3163824"/>
            <a:ext cx="3236976" cy="530352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64592" y="3163824"/>
            <a:ext cx="54864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0896" y="32369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Sign Extension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10896" y="34930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</a:rPr>
              <a:t>How immediates are reconstructed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64592" y="3767328"/>
            <a:ext cx="3236976" cy="530352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164592" y="3767328"/>
            <a:ext cx="54864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0896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Full Decoding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10896" y="409651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</a:rPr>
              <a:t>Step-by-step decode with real examples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64592" y="4370832"/>
            <a:ext cx="3236976" cy="530352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164592" y="4370832"/>
            <a:ext cx="54864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10896" y="44439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Pseudo-Instrs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310896" y="47000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</a:rPr>
              <a:t>How assembler expands shortcuts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Overview — Philosophy, Architecture &amp; Register File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4BF"/>
                </a:solidFill>
              </a:rPr>
              <a:t>Open standard ISA · 47 base integer instructions · 32 × 32-bit general-purpose registers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8595360" cy="2011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60120"/>
            <a:ext cx="2176272" cy="877824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54864" cy="8778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051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82F6"/>
                </a:solidFill>
              </a:rPr>
              <a:t>Open Standard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0624" y="1344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No licensing fees. Anyone can implement, extend, or fabricate.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78608" y="960120"/>
            <a:ext cx="2176272" cy="877824"/>
          </a:xfrm>
          <a:prstGeom prst="rect">
            <a:avLst/>
          </a:prstGeom>
          <a:solidFill>
            <a:srgbClr val="0C1520"/>
          </a:solidFill>
          <a:ln w="12700">
            <a:solidFill>
              <a:srgbClr val="F43F5E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78608" y="960120"/>
            <a:ext cx="54864" cy="87782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051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3F5E"/>
                </a:solidFill>
              </a:rPr>
              <a:t>Fixed 32-bit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43200" y="1344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All RV32I instructions are exactly 4 bytes. No variable-length encoding.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1984248"/>
            <a:ext cx="2176272" cy="877824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1984248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0756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32 Registers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0624" y="236829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x0–x31 each 32 bits wide. x0 is hardwired to 0 always.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78608" y="1984248"/>
            <a:ext cx="2176272" cy="877824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78608" y="1984248"/>
            <a:ext cx="54864" cy="87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20756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Load/Store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0" y="236829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Only LW/SW touch memory. All computation happens in registers.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3008376"/>
            <a:ext cx="2176272" cy="877824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3008376"/>
            <a:ext cx="54864" cy="87782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3099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55F7"/>
                </a:solidFill>
              </a:rPr>
              <a:t>6 Formats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20624" y="33924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R I S B U J — each defines where fields live in the 32-bit word.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78608" y="3008376"/>
            <a:ext cx="2176272" cy="877824"/>
          </a:xfrm>
          <a:prstGeom prst="rect">
            <a:avLst/>
          </a:prstGeom>
          <a:solidFill>
            <a:srgbClr val="0C1520"/>
          </a:solidFill>
          <a:ln w="12700">
            <a:solidFill>
              <a:srgbClr val="06B6D4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78608" y="3008376"/>
            <a:ext cx="54864" cy="87782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3099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B6D4"/>
                </a:solidFill>
              </a:rPr>
              <a:t>Modular ISA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743200" y="33924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RV32I is base. Add M(multiply), F(float), V(vector) extensions.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92040" y="932688"/>
            <a:ext cx="4041648" cy="3108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932688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Register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36208" y="932688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ABI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80376" y="932688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Purpose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1261872"/>
            <a:ext cx="4041648" cy="27432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26187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36208" y="126187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80376" y="126187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0 — hardwired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92040" y="1563624"/>
            <a:ext cx="4041648" cy="27432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156362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36208" y="156362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80376" y="156362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address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92040" y="1865376"/>
            <a:ext cx="4041648" cy="27432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1865376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36208" y="1865376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580376" y="1865376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pointer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92040" y="2167128"/>
            <a:ext cx="4041648" cy="27432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2167128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36208" y="2167128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580376" y="2167128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pointer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92040" y="2468880"/>
            <a:ext cx="4041648" cy="27432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24688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36208" y="24688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580376" y="24688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pointer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92040" y="2770632"/>
            <a:ext cx="4041648" cy="27432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277063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x5-7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36208" y="277063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t0-2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580376" y="277063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Temporaries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92040" y="3072384"/>
            <a:ext cx="4041648" cy="27432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92040" y="307238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x8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236208" y="307238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s0/fp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580376" y="307238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 / frame ptr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892040" y="3374136"/>
            <a:ext cx="4041648" cy="27432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92040" y="3374136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x9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236208" y="3374136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580376" y="3374136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 register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892040" y="3675888"/>
            <a:ext cx="4041648" cy="27432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92040" y="3675888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x10-11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236208" y="3675888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a0-1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580376" y="3675888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args / return values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892040" y="3977640"/>
            <a:ext cx="4041648" cy="27432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92040" y="397764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x12-17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236208" y="397764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a2-7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580376" y="397764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arguments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892040" y="4279392"/>
            <a:ext cx="4041648" cy="27432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92040" y="427939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x18-27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236208" y="427939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s2-11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580376" y="427939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 registers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892040" y="4581144"/>
            <a:ext cx="4041648" cy="27432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92040" y="458114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x28-31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236208" y="458114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t3-6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580376" y="458114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Temporaries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892040" y="4956048"/>
            <a:ext cx="4041648" cy="100584"/>
          </a:xfrm>
          <a:prstGeom prst="rect">
            <a:avLst/>
          </a:prstGeom>
          <a:solidFill>
            <a:srgbClr val="0D2233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92040" y="4919472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BF"/>
                </a:solidFill>
              </a:rPr>
              <a:t>All RV32I addresses are 32-bit byte addresses · Little-endian byte order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Instruction Formats — How 32 Bits Are Divided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4BF"/>
                </a:solidFill>
              </a:rPr>
              <a:t>Every RV32I instruction fits one of these 6 templates. Fields rs1, rs2, rd, funct3 stay in the same positions across formats.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8595360" cy="20117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7782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5468"/>
                </a:solidFill>
              </a:rPr>
              <a:t>31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" y="87782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5468"/>
                </a:solidFill>
              </a:rPr>
              <a:t>28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91056" y="87782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5468"/>
                </a:solidFill>
              </a:rPr>
              <a:t>24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31720" y="87782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5468"/>
                </a:solidFill>
              </a:rPr>
              <a:t>20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072384" y="87782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5468"/>
                </a:solidFill>
              </a:rPr>
              <a:t>16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13048" y="87782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5468"/>
                </a:solidFill>
              </a:rPr>
              <a:t>12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73168" y="87782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5468"/>
                </a:solidFill>
              </a:rPr>
              <a:t>8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0" y="87782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5468"/>
                </a:solidFill>
              </a:rPr>
              <a:t>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0" y="87782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5468"/>
                </a:solidFill>
              </a:rPr>
              <a:t>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6032" y="1078992"/>
            <a:ext cx="731520" cy="4937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1078992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R-type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42416" y="1124712"/>
            <a:ext cx="1521905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1161288"/>
            <a:ext cx="1485329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0704" y="1358067"/>
            <a:ext cx="1485329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7b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582609" y="1124712"/>
            <a:ext cx="1081850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0897" y="1161288"/>
            <a:ext cx="1045274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00897" y="1358067"/>
            <a:ext cx="1045274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82746" y="1124712"/>
            <a:ext cx="1081850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1034" y="1161288"/>
            <a:ext cx="1045274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701034" y="1358067"/>
            <a:ext cx="1045274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782884" y="1124712"/>
            <a:ext cx="641795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1171" y="1161288"/>
            <a:ext cx="605219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801171" y="1358067"/>
            <a:ext cx="605219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3b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442966" y="1124712"/>
            <a:ext cx="1081850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61254" y="1161288"/>
            <a:ext cx="1045274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61254" y="1358067"/>
            <a:ext cx="1045274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543104" y="1124712"/>
            <a:ext cx="1521905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1391" y="1161288"/>
            <a:ext cx="1485329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61391" y="1358067"/>
            <a:ext cx="1485329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7b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138160" y="11704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A4BF"/>
                </a:solidFill>
              </a:rPr>
              <a:t>ADD SUB AND OR XOR SLL SRL SRA SLT SLTU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56032" y="1719072"/>
            <a:ext cx="731520" cy="4937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" y="1719072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I-type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42416" y="1764792"/>
            <a:ext cx="2622042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0704" y="1801368"/>
            <a:ext cx="2585466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imm[11:0]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60704" y="1998147"/>
            <a:ext cx="2585466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12b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682746" y="1764792"/>
            <a:ext cx="1081850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01034" y="1801368"/>
            <a:ext cx="1045274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701034" y="1998147"/>
            <a:ext cx="1045274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782884" y="1764792"/>
            <a:ext cx="641795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1171" y="1801368"/>
            <a:ext cx="605219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801171" y="1998147"/>
            <a:ext cx="605219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3b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442966" y="1764792"/>
            <a:ext cx="1081850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61254" y="1801368"/>
            <a:ext cx="1045274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61254" y="1998147"/>
            <a:ext cx="1045274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543104" y="1764792"/>
            <a:ext cx="1521905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61391" y="1801368"/>
            <a:ext cx="1485329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561391" y="1998147"/>
            <a:ext cx="1485329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7b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8138160" y="181051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A4BF"/>
                </a:solidFill>
              </a:rPr>
              <a:t>ADDI LW LH LB JALR SLLI SRLI SRAI SLTI XORI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56032" y="2359152"/>
            <a:ext cx="731520" cy="4937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6032" y="2359152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S-type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042416" y="2404872"/>
            <a:ext cx="1521905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60704" y="2441448"/>
            <a:ext cx="1485329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imm[11:5]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60704" y="2638227"/>
            <a:ext cx="1485329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7b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582609" y="2404872"/>
            <a:ext cx="1081850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00897" y="2441448"/>
            <a:ext cx="1045274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rs2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600897" y="2638227"/>
            <a:ext cx="1045274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682746" y="2404872"/>
            <a:ext cx="1081850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01034" y="2441448"/>
            <a:ext cx="1045274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701034" y="2638227"/>
            <a:ext cx="1045274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782884" y="2404872"/>
            <a:ext cx="641795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01171" y="2441448"/>
            <a:ext cx="605219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801171" y="2638227"/>
            <a:ext cx="605219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3b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5442966" y="2404872"/>
            <a:ext cx="1081850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61254" y="2441448"/>
            <a:ext cx="1045274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imm[4:0]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61254" y="2638227"/>
            <a:ext cx="1045274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543104" y="2404872"/>
            <a:ext cx="1521905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61391" y="2441448"/>
            <a:ext cx="1485329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561391" y="2638227"/>
            <a:ext cx="1485329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7b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8138160" y="2450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A4BF"/>
                </a:solidFill>
              </a:rPr>
              <a:t>SW SH SB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56032" y="2999232"/>
            <a:ext cx="731520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56032" y="2999232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B-type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042416" y="3044952"/>
            <a:ext cx="1521905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60704" y="3081528"/>
            <a:ext cx="1485329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imm[12|10:5]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060704" y="3278307"/>
            <a:ext cx="1485329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7b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2582609" y="3044952"/>
            <a:ext cx="1081850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600897" y="3081528"/>
            <a:ext cx="1045274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rs2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2600897" y="3278307"/>
            <a:ext cx="1045274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3682746" y="3044952"/>
            <a:ext cx="1081850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701034" y="3081528"/>
            <a:ext cx="1045274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3701034" y="3278307"/>
            <a:ext cx="1045274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4782884" y="3044952"/>
            <a:ext cx="641795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801171" y="3081528"/>
            <a:ext cx="605219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4801171" y="3278307"/>
            <a:ext cx="605219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3b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5442966" y="3044952"/>
            <a:ext cx="1081850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461254" y="3081528"/>
            <a:ext cx="1045274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imm[4:1|11]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5461254" y="3278307"/>
            <a:ext cx="1045274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6543104" y="3044952"/>
            <a:ext cx="1521905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561391" y="3081528"/>
            <a:ext cx="1485329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561391" y="3278307"/>
            <a:ext cx="1485329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7b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8138160" y="309067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A4BF"/>
                </a:solidFill>
              </a:rPr>
              <a:t>BEQ BNE BLT BGE BLTU BGEU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256032" y="3639312"/>
            <a:ext cx="731520" cy="4937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56032" y="3639312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U-type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1042416" y="3685032"/>
            <a:ext cx="4382262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60704" y="3721608"/>
            <a:ext cx="4345686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imm[31:12]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1060704" y="3918387"/>
            <a:ext cx="4345686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20b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5442966" y="3685032"/>
            <a:ext cx="1081850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461254" y="3721608"/>
            <a:ext cx="1045274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5461254" y="3918387"/>
            <a:ext cx="1045274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6543104" y="3685032"/>
            <a:ext cx="1521905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561391" y="3721608"/>
            <a:ext cx="1485329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561391" y="3918387"/>
            <a:ext cx="1485329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7b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8138160" y="373075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A4BF"/>
                </a:solidFill>
              </a:rPr>
              <a:t>LUI  AUIPC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256032" y="4279392"/>
            <a:ext cx="731520" cy="4937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56032" y="4279392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J-type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1042416" y="4325112"/>
            <a:ext cx="4382262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60704" y="4361688"/>
            <a:ext cx="4345686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imm[20|10:1|11|19:12]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1060704" y="4558467"/>
            <a:ext cx="4345686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20b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5442966" y="4325112"/>
            <a:ext cx="1081850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461254" y="4361688"/>
            <a:ext cx="1045274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5461254" y="4558467"/>
            <a:ext cx="1045274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6543104" y="4325112"/>
            <a:ext cx="1521905" cy="402336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561391" y="4361688"/>
            <a:ext cx="1485329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561391" y="4558467"/>
            <a:ext cx="1485329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7b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8138160" y="43708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A4BF"/>
                </a:solidFill>
              </a:rPr>
              <a:t>JAL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256032" y="4892040"/>
            <a:ext cx="8631936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47472" y="4919472"/>
            <a:ext cx="137160" cy="118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21208" y="4919472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</a:rPr>
              <a:t>opcode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2084832" y="4919472"/>
            <a:ext cx="137160" cy="118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258568" y="4919472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</a:rPr>
              <a:t>rs1/rs2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3822192" y="4919472"/>
            <a:ext cx="137160" cy="118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995928" y="4919472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</a:rPr>
              <a:t>rd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5559552" y="4919472"/>
            <a:ext cx="137160" cy="1188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733288" y="4919472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</a:rPr>
              <a:t>funct7/3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7296912" y="4919472"/>
            <a:ext cx="137160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470648" y="4919472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</a:rPr>
              <a:t>immediate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R-Type Format — Register-Register Operations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4BF"/>
                </a:solidFill>
              </a:rPr>
              <a:t>opcode=0110011 (0x33) · funct7 + funct3 select exact operation · no immediate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8595360" cy="20117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BF"/>
                </a:solidFill>
              </a:rPr>
              <a:t>Format: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1869948" cy="530352"/>
          </a:xfrm>
          <a:prstGeom prst="rect">
            <a:avLst/>
          </a:prstGeom>
          <a:solidFill>
            <a:srgbClr val="0C152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32688"/>
            <a:ext cx="1833372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203716"/>
            <a:ext cx="1833372" cy="190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7b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144268" y="896112"/>
            <a:ext cx="1330452" cy="530352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62556" y="932688"/>
            <a:ext cx="1293876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162556" y="1203716"/>
            <a:ext cx="1293876" cy="190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493008" y="896112"/>
            <a:ext cx="1330452" cy="530352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932688"/>
            <a:ext cx="1293876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11296" y="1203716"/>
            <a:ext cx="1293876" cy="190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841748" y="896112"/>
            <a:ext cx="790956" cy="530352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0036" y="932688"/>
            <a:ext cx="754380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860036" y="1203716"/>
            <a:ext cx="754380" cy="190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3b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650992" y="896112"/>
            <a:ext cx="1330452" cy="530352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932688"/>
            <a:ext cx="1293876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69280" y="1203716"/>
            <a:ext cx="1293876" cy="190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999732" y="896112"/>
            <a:ext cx="1869948" cy="530352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18020" y="932688"/>
            <a:ext cx="1833372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18020" y="1203716"/>
            <a:ext cx="1833372" cy="190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7b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56032" y="144475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468"/>
                </a:solidFill>
              </a:rPr>
              <a:t>31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686800" y="14447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468"/>
                </a:solidFill>
              </a:rPr>
              <a:t>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0" y="144475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D5468"/>
                </a:solidFill>
              </a:rPr>
              <a:t>← bit positions →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56032" y="15910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</a:rPr>
              <a:t>Decode:  ADD x12, x10, x11   (machine code = 0x00B50633)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6032" y="18470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Binary:  0000 0000 1011  0101 0  000  0110 0  011 0011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2103120"/>
            <a:ext cx="1869948" cy="512064"/>
          </a:xfrm>
          <a:prstGeom prst="rect">
            <a:avLst/>
          </a:prstGeom>
          <a:solidFill>
            <a:srgbClr val="1A081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130552"/>
            <a:ext cx="1833372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74320" y="2400117"/>
            <a:ext cx="1833372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funct7=0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144268" y="2103120"/>
            <a:ext cx="1330452" cy="512064"/>
          </a:xfrm>
          <a:prstGeom prst="rect">
            <a:avLst/>
          </a:prstGeom>
          <a:solidFill>
            <a:srgbClr val="0712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62556" y="2130552"/>
            <a:ext cx="1293876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01011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162556" y="2400117"/>
            <a:ext cx="1293876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rs2=x11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493008" y="2103120"/>
            <a:ext cx="1330452" cy="512064"/>
          </a:xfrm>
          <a:prstGeom prst="rect">
            <a:avLst/>
          </a:prstGeom>
          <a:solidFill>
            <a:srgbClr val="0712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11296" y="2130552"/>
            <a:ext cx="1293876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01010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511296" y="2400117"/>
            <a:ext cx="1293876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rs1=x10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841748" y="2103120"/>
            <a:ext cx="790956" cy="512064"/>
          </a:xfrm>
          <a:prstGeom prst="rect">
            <a:avLst/>
          </a:prstGeom>
          <a:solidFill>
            <a:srgbClr val="120A1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0036" y="2130552"/>
            <a:ext cx="754380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60036" y="2400117"/>
            <a:ext cx="754380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funct3=0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650992" y="2103120"/>
            <a:ext cx="1330452" cy="512064"/>
          </a:xfrm>
          <a:prstGeom prst="rect">
            <a:avLst/>
          </a:prstGeom>
          <a:solidFill>
            <a:srgbClr val="0315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2130552"/>
            <a:ext cx="1293876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69280" y="2400117"/>
            <a:ext cx="1293876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rd=x12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999732" y="2103120"/>
            <a:ext cx="1869948" cy="512064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18020" y="2130552"/>
            <a:ext cx="1833372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018020" y="2400117"/>
            <a:ext cx="1833372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opcode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967728" y="26700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</a:rPr>
              <a:t>▲ opcode=0x33 → R-type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120640" y="26700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</a:rPr>
              <a:t>▲ rd=01100 → x12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749040" y="26700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55F7"/>
                </a:solidFill>
              </a:rPr>
              <a:t>▲ funct3=000 → ADD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331720" y="26700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B82F6"/>
                </a:solidFill>
              </a:rPr>
              <a:t>▲ rs1=01010 → x10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914400" y="26700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B82F6"/>
                </a:solidFill>
              </a:rPr>
              <a:t>▲ rs2=01011 → x11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56032" y="28529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43F5E"/>
                </a:solidFill>
              </a:rPr>
              <a:t>▲ funct7=0000000 → ADD (not SUB)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56032" y="3090672"/>
            <a:ext cx="658368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0896" y="309067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32688" y="3090672"/>
            <a:ext cx="1005840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7552" y="30906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956816" y="3090672"/>
            <a:ext cx="749808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11680" y="30906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24912" y="3090672"/>
            <a:ext cx="1005840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79776" y="30906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funct7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749040" y="3090672"/>
            <a:ext cx="2377440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03904" y="30906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56032" y="3273552"/>
            <a:ext cx="65836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0896" y="327355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32688" y="327355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7552" y="32735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956816" y="3273552"/>
            <a:ext cx="74980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011680" y="327355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724912" y="327355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79776" y="32735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749040" y="3273552"/>
            <a:ext cx="2377440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03904" y="32735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+ rs2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56032" y="3456432"/>
            <a:ext cx="65836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0896" y="34564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32688" y="345643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7552" y="34564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956816" y="3456432"/>
            <a:ext cx="74980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011680" y="345643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724912" y="345643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79776" y="34564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0100000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749040" y="3456432"/>
            <a:ext cx="2377440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803904" y="34564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rs1 - rs2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56032" y="3639312"/>
            <a:ext cx="65836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10896" y="36393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932688" y="363931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87552" y="36393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1956816" y="3639312"/>
            <a:ext cx="74980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011680" y="36393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724912" y="363931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779776" y="36393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3749040" y="3639312"/>
            <a:ext cx="2377440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803904" y="363931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&amp; rs2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56032" y="3822192"/>
            <a:ext cx="65836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10896" y="38221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932688" y="382219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87552" y="38221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1956816" y="3822192"/>
            <a:ext cx="74980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011680" y="382219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2724912" y="382219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779776" y="38221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749040" y="3822192"/>
            <a:ext cx="2377440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803904" y="3822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| rs2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256032" y="4005072"/>
            <a:ext cx="65836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10896" y="400507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XOR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932688" y="400507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87552" y="4005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956816" y="4005072"/>
            <a:ext cx="74980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011680" y="40050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2724912" y="400507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779776" y="4005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3749040" y="4005072"/>
            <a:ext cx="2377440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803904" y="40050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^ rs2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256032" y="4187952"/>
            <a:ext cx="65836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10896" y="418795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932688" y="418795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987552" y="4187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1956816" y="4187952"/>
            <a:ext cx="74980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011680" y="418795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2724912" y="418795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779776" y="4187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3749040" y="4187952"/>
            <a:ext cx="2377440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803904" y="4187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&lt;&lt; rs2[4:0]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256032" y="4370832"/>
            <a:ext cx="65836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10896" y="43708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SRL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932688" y="437083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987552" y="4370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1956816" y="4370832"/>
            <a:ext cx="74980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011680" y="437083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2724912" y="437083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779776" y="4370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3749040" y="4370832"/>
            <a:ext cx="2377440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803904" y="43708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&gt;&gt; rs2[4:0]  (logical)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256032" y="4553712"/>
            <a:ext cx="65836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10896" y="45537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932688" y="455371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987552" y="45537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1956816" y="4553712"/>
            <a:ext cx="74980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011680" y="45537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2724912" y="455371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2779776" y="45537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0100000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3749040" y="4553712"/>
            <a:ext cx="2377440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803904" y="455371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&gt;&gt;&gt; rs2[4:0] (arithmetic)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256032" y="4736592"/>
            <a:ext cx="65836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310896" y="47365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SLT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932688" y="473659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87552" y="47365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1956816" y="4736592"/>
            <a:ext cx="74980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011680" y="473659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2724912" y="473659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2779776" y="47365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3749040" y="4736592"/>
            <a:ext cx="2377440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3803904" y="47365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(rs1 &lt; rs2) ? 1 : 0  (signed)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256032" y="4919472"/>
            <a:ext cx="65836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310896" y="491947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SLTU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932688" y="491947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987552" y="4919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1956816" y="4919472"/>
            <a:ext cx="749808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2011680" y="49194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2724912" y="4919472"/>
            <a:ext cx="1005840" cy="164592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2779776" y="4919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</a:t>
            </a:r>
            <a:endParaRPr lang="en-US" sz="900" dirty="0"/>
          </a:p>
        </p:txBody>
      </p:sp>
      <p:sp>
        <p:nvSpPr>
          <p:cNvPr id="162" name="Shape 160"/>
          <p:cNvSpPr/>
          <p:nvPr/>
        </p:nvSpPr>
        <p:spPr>
          <a:xfrm>
            <a:off x="3749040" y="4919472"/>
            <a:ext cx="2377440" cy="164592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3803904" y="4919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(rs1 &lt; rs2) ? 1 : 0  (unsigned)</a:t>
            </a:r>
            <a:endParaRPr lang="en-US" sz="900" dirty="0"/>
          </a:p>
        </p:txBody>
      </p:sp>
      <p:sp>
        <p:nvSpPr>
          <p:cNvPr id="164" name="Text 162"/>
          <p:cNvSpPr/>
          <p:nvPr/>
        </p:nvSpPr>
        <p:spPr>
          <a:xfrm>
            <a:off x="6263640" y="3090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DD68C"/>
                </a:solidFill>
              </a:rPr>
              <a:t>Result: x12 = x10 + x11 = value in x10 + value in x11</a:t>
            </a:r>
            <a:endParaRPr lang="en-US" sz="1000" dirty="0"/>
          </a:p>
        </p:txBody>
      </p:sp>
      <p:sp>
        <p:nvSpPr>
          <p:cNvPr id="165" name="Text 163"/>
          <p:cNvSpPr/>
          <p:nvPr/>
        </p:nvSpPr>
        <p:spPr>
          <a:xfrm>
            <a:off x="6263640" y="34747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B923C"/>
                </a:solidFill>
              </a:rPr>
              <a:t>Note: ADD vs SUB only differ in funct7[5] = 0 vs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I-Type Format — Immediate, Load &amp; JALR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4BF"/>
                </a:solidFill>
              </a:rPr>
              <a:t>12-bit signed immediate · used for arithmetic with immediate, loads, and JALR · sign-extended to 32 bits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8595360" cy="2011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BF"/>
                </a:solidFill>
              </a:rPr>
              <a:t>Format: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3218688" cy="530352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32688"/>
            <a:ext cx="3182112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imm[11:0]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203716"/>
            <a:ext cx="3182112" cy="190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12b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493008" y="896112"/>
            <a:ext cx="1330452" cy="530352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932688"/>
            <a:ext cx="1293876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11296" y="1203716"/>
            <a:ext cx="1293876" cy="190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841748" y="896112"/>
            <a:ext cx="790956" cy="530352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0036" y="932688"/>
            <a:ext cx="754380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60036" y="1203716"/>
            <a:ext cx="754380" cy="190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3b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650992" y="896112"/>
            <a:ext cx="1330452" cy="530352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932688"/>
            <a:ext cx="1293876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0" y="1203716"/>
            <a:ext cx="1293876" cy="190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999732" y="896112"/>
            <a:ext cx="1869948" cy="530352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18020" y="932688"/>
            <a:ext cx="1833372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18020" y="1203716"/>
            <a:ext cx="1833372" cy="190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7b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56032" y="144475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468"/>
                </a:solidFill>
              </a:rPr>
              <a:t>31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686800" y="14447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468"/>
                </a:solidFill>
              </a:rPr>
              <a:t>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0" y="144475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D5468"/>
                </a:solidFill>
              </a:rPr>
              <a:t>← bit positions →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56032" y="15910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Decode:  ADDI x5, x6, -4   (machine code = 0xFFC30293)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6032" y="18470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Binary:  1111 1111 1100  0011 0  000  0010 1  001 0011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103120"/>
            <a:ext cx="3218688" cy="512064"/>
          </a:xfrm>
          <a:prstGeom prst="rect">
            <a:avLst/>
          </a:prstGeom>
          <a:solidFill>
            <a:srgbClr val="0712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130552"/>
            <a:ext cx="3182112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111111111100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2400117"/>
            <a:ext cx="3182112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imm[11:0]=-4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493008" y="2103120"/>
            <a:ext cx="1330452" cy="512064"/>
          </a:xfrm>
          <a:prstGeom prst="rect">
            <a:avLst/>
          </a:prstGeom>
          <a:solidFill>
            <a:srgbClr val="0F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11296" y="2130552"/>
            <a:ext cx="1293876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00110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511296" y="2400117"/>
            <a:ext cx="1293876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rs1=x6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841748" y="2103120"/>
            <a:ext cx="790956" cy="512064"/>
          </a:xfrm>
          <a:prstGeom prst="rect">
            <a:avLst/>
          </a:prstGeom>
          <a:solidFill>
            <a:srgbClr val="120A1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0036" y="2130552"/>
            <a:ext cx="754380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60036" y="2400117"/>
            <a:ext cx="754380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funct3=ADDI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650992" y="2103120"/>
            <a:ext cx="1330452" cy="512064"/>
          </a:xfrm>
          <a:prstGeom prst="rect">
            <a:avLst/>
          </a:prstGeom>
          <a:solidFill>
            <a:srgbClr val="0315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2130552"/>
            <a:ext cx="1293876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00101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69280" y="2400117"/>
            <a:ext cx="1293876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rd=x5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999732" y="2103120"/>
            <a:ext cx="1869948" cy="512064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18020" y="2130552"/>
            <a:ext cx="1833372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0010011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018020" y="2400117"/>
            <a:ext cx="1833372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opcode=0x13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492240" y="2670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</a:rPr>
              <a:t>▲ opcode=0x13 → I-type arith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46320" y="2670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</a:rPr>
              <a:t>▲ rd=00101 → x5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383280" y="2670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55F7"/>
                </a:solidFill>
              </a:rPr>
              <a:t>▲ funct3=000 → ADDI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920240" y="2670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B82F6"/>
                </a:solidFill>
              </a:rPr>
              <a:t>▲ rs1=00110 → x6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6032" y="2852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B82F6"/>
                </a:solidFill>
              </a:rPr>
              <a:t>▲ imm=111111111100 → sign-ext → -4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56032" y="3108960"/>
            <a:ext cx="3657600" cy="932688"/>
          </a:xfrm>
          <a:prstGeom prst="rect">
            <a:avLst/>
          </a:prstGeom>
          <a:solidFill>
            <a:srgbClr val="0D2233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84048" y="31638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Sign Extension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84048" y="3438144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12-bit imm → 32 bits by replicating bit[11]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111111111100 (12-bit) = -4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0xFFFFFFFC (-4 as 32-bit signed)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by: ADDI, LW, LH, LB, JALR, shifts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041648" y="3090672"/>
            <a:ext cx="640080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96512" y="30906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00016" y="3090672"/>
            <a:ext cx="914400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309067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632704" y="3090672"/>
            <a:ext cx="685800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87568" y="3090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336792" y="3090672"/>
            <a:ext cx="3291840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91656" y="3090672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/ Operation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041648" y="3231490"/>
            <a:ext cx="64008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96512" y="323149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00016" y="3231490"/>
            <a:ext cx="91440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323149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0010011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632704" y="3231490"/>
            <a:ext cx="68580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87568" y="3231490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336792" y="3231490"/>
            <a:ext cx="329184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91656" y="3231490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+ sext(imm12)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041648" y="3372307"/>
            <a:ext cx="64008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96512" y="3372307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SLTI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700016" y="3372307"/>
            <a:ext cx="91440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54880" y="3372307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0010011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632704" y="3372307"/>
            <a:ext cx="68580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87568" y="3372307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336792" y="3372307"/>
            <a:ext cx="329184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91656" y="3372307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(rs1 &lt; sext(imm)) ? 1:0 signed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041648" y="3513125"/>
            <a:ext cx="64008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96512" y="3513125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ANDI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700016" y="3513125"/>
            <a:ext cx="91440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54880" y="3513125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0010011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632704" y="3513125"/>
            <a:ext cx="68580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87568" y="3513125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336792" y="3513125"/>
            <a:ext cx="329184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91656" y="3513125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&amp; sext(imm)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041648" y="3653942"/>
            <a:ext cx="64008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96512" y="365394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700016" y="3653942"/>
            <a:ext cx="91440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54880" y="365394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0010011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632704" y="3653942"/>
            <a:ext cx="68580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687568" y="365394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336792" y="3653942"/>
            <a:ext cx="329184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391656" y="3653942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| sext(imm)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041648" y="3794760"/>
            <a:ext cx="64008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096512" y="379476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XORI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700016" y="3794760"/>
            <a:ext cx="91440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754880" y="379476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0010011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632704" y="3794760"/>
            <a:ext cx="68580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687568" y="3794760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336792" y="3794760"/>
            <a:ext cx="329184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391656" y="3794760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^ sext(imm)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4041648" y="3935578"/>
            <a:ext cx="64008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096512" y="393557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SLLI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700016" y="3935578"/>
            <a:ext cx="91440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754880" y="393557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0010011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632704" y="3935578"/>
            <a:ext cx="68580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687568" y="3935578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36792" y="3935578"/>
            <a:ext cx="329184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391656" y="3935578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&lt;&lt; shamt  (imm[4:0])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041648" y="4076395"/>
            <a:ext cx="64008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096512" y="4076395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SRLI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4700016" y="4076395"/>
            <a:ext cx="91440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754880" y="4076395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0010011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5632704" y="4076395"/>
            <a:ext cx="68580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87568" y="4076395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6336792" y="4076395"/>
            <a:ext cx="329184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391656" y="4076395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&gt;&gt; shamt  (logical)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4041648" y="4217213"/>
            <a:ext cx="64008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096512" y="4217213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SRAI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4700016" y="4217213"/>
            <a:ext cx="91440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754880" y="4217213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0010011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5632704" y="4217213"/>
            <a:ext cx="68580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687568" y="4217213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6336792" y="4217213"/>
            <a:ext cx="329184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391656" y="4217213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&gt;&gt;&gt; shamt (arith; imm[10]=1)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4041648" y="4358030"/>
            <a:ext cx="64008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096512" y="435803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LW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4700016" y="4358030"/>
            <a:ext cx="91440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754880" y="435803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0000011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5632704" y="4358030"/>
            <a:ext cx="68580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687568" y="4358030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36792" y="4358030"/>
            <a:ext cx="329184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391656" y="4358030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Mem32[rs1 + sext(imm)]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4041648" y="4498848"/>
            <a:ext cx="64008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096512" y="449884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LH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4700016" y="4498848"/>
            <a:ext cx="91440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754880" y="449884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0000011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5632704" y="4498848"/>
            <a:ext cx="68580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687568" y="4498848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6336792" y="4498848"/>
            <a:ext cx="329184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391656" y="4498848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sext(Mem16[rs1+sext(imm)])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4041648" y="4639666"/>
            <a:ext cx="64008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096512" y="463966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4700016" y="4639666"/>
            <a:ext cx="91440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754880" y="463966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0000011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5632704" y="4639666"/>
            <a:ext cx="68580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687568" y="463966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6336792" y="4639666"/>
            <a:ext cx="329184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391656" y="4639666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sext(Mem8[rs1+sext(imm)])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4041648" y="4780483"/>
            <a:ext cx="64008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096512" y="4780483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LHU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4700016" y="4780483"/>
            <a:ext cx="91440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754880" y="4780483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0000011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5632704" y="4780483"/>
            <a:ext cx="68580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5687568" y="4780483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36792" y="4780483"/>
            <a:ext cx="329184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6391656" y="4780483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zext(Mem16[rs1+sext(imm)])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4041648" y="4921301"/>
            <a:ext cx="64008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096512" y="4921301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LBU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4700016" y="4921301"/>
            <a:ext cx="91440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754880" y="4921301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0000011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5632704" y="4921301"/>
            <a:ext cx="68580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5687568" y="4921301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6336792" y="4921301"/>
            <a:ext cx="329184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6391656" y="4921301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zext(Mem8[rs1+sext(imm)])</a:t>
            </a:r>
            <a:endParaRPr lang="en-US" sz="900" dirty="0"/>
          </a:p>
        </p:txBody>
      </p:sp>
      <p:sp>
        <p:nvSpPr>
          <p:cNvPr id="162" name="Shape 160"/>
          <p:cNvSpPr/>
          <p:nvPr/>
        </p:nvSpPr>
        <p:spPr>
          <a:xfrm>
            <a:off x="4041648" y="5062118"/>
            <a:ext cx="64008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096512" y="506211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JALR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4700016" y="5062118"/>
            <a:ext cx="91440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754880" y="506211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1100111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5632704" y="5062118"/>
            <a:ext cx="68580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5687568" y="5062118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6336792" y="5062118"/>
            <a:ext cx="3291840" cy="12801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6391656" y="5062118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rd=PC+4; PC=(rs1+sext(imm))&amp;~1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S-Type &amp; B-Type Formats — Stores and Conditional Branches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4BF"/>
                </a:solidFill>
              </a:rPr>
              <a:t>S-type: immediate is SPLIT across two fields to keep rs1/rs2/funct3 aligned · B-type: immediate is bit-scrambled for same reason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8595360" cy="20117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86968"/>
            <a:ext cx="8631936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8869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S-TYPE  —  Store Instructions (SW, SH, SB)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133856"/>
            <a:ext cx="1869948" cy="457200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70432"/>
            <a:ext cx="18333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imm[11:5]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399032"/>
            <a:ext cx="18333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7b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144268" y="1133856"/>
            <a:ext cx="1330452" cy="457200"/>
          </a:xfrm>
          <a:prstGeom prst="rect">
            <a:avLst/>
          </a:prstGeom>
          <a:solidFill>
            <a:srgbClr val="0C152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62556" y="1170432"/>
            <a:ext cx="12938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62556" y="1399032"/>
            <a:ext cx="12938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493008" y="1133856"/>
            <a:ext cx="1330452" cy="457200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11296" y="1170432"/>
            <a:ext cx="12938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11296" y="1399032"/>
            <a:ext cx="12938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841748" y="1133856"/>
            <a:ext cx="790956" cy="457200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0036" y="1170432"/>
            <a:ext cx="754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860036" y="139903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3b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650992" y="1133856"/>
            <a:ext cx="1330452" cy="457200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1170432"/>
            <a:ext cx="12938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imm[4:0]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69280" y="1399032"/>
            <a:ext cx="12938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999732" y="1133856"/>
            <a:ext cx="1869948" cy="457200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18020" y="1170432"/>
            <a:ext cx="18333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18020" y="1399032"/>
            <a:ext cx="18333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7b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56032" y="16642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Decode:  SW x5, -8(x6)   [Store x5 to address (x6 + (-8))]   =  0xFE532C23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1938528"/>
            <a:ext cx="1869948" cy="475488"/>
          </a:xfrm>
          <a:prstGeom prst="rect">
            <a:avLst/>
          </a:prstGeom>
          <a:solidFill>
            <a:srgbClr val="0315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1965960"/>
            <a:ext cx="1833372" cy="247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1111111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" y="2214311"/>
            <a:ext cx="1833372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imm[11:5]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144268" y="1938528"/>
            <a:ext cx="1330452" cy="475488"/>
          </a:xfrm>
          <a:prstGeom prst="rect">
            <a:avLst/>
          </a:prstGeom>
          <a:solidFill>
            <a:srgbClr val="1A081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62556" y="1965960"/>
            <a:ext cx="1293876" cy="247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62556" y="2214311"/>
            <a:ext cx="1293876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rs2=x5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493008" y="1938528"/>
            <a:ext cx="1330452" cy="475488"/>
          </a:xfrm>
          <a:prstGeom prst="rect">
            <a:avLst/>
          </a:prstGeom>
          <a:solidFill>
            <a:srgbClr val="0712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11296" y="1965960"/>
            <a:ext cx="1293876" cy="247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00110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511296" y="2214311"/>
            <a:ext cx="1293876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rs1=x6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841748" y="1938528"/>
            <a:ext cx="790956" cy="475488"/>
          </a:xfrm>
          <a:prstGeom prst="rect">
            <a:avLst/>
          </a:prstGeom>
          <a:solidFill>
            <a:srgbClr val="120A1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0036" y="1965960"/>
            <a:ext cx="754380" cy="247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60036" y="2214311"/>
            <a:ext cx="754380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funct3=2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650992" y="1938528"/>
            <a:ext cx="1330452" cy="475488"/>
          </a:xfrm>
          <a:prstGeom prst="rect">
            <a:avLst/>
          </a:prstGeom>
          <a:solidFill>
            <a:srgbClr val="0315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0" y="1965960"/>
            <a:ext cx="1293876" cy="247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669280" y="2214311"/>
            <a:ext cx="1293876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imm[4:0]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999732" y="1938528"/>
            <a:ext cx="1869948" cy="475488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18020" y="1965960"/>
            <a:ext cx="1833372" cy="247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0100011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018020" y="2214311"/>
            <a:ext cx="1833372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opcode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56032" y="2468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Reassemble imm: {imm[11:5], imm[4:0]} = {1111111, 11000} = 111111111000 = -8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6032" y="26883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B923C"/>
                </a:solidFill>
              </a:rPr>
              <a:t>S-Type splits the immediate to keep rs1/rs2 in the same bit positions as R-type — hardware decoder stays simple.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6032" y="2944368"/>
            <a:ext cx="8631936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" y="294436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B-TYPE  —  Conditional Branch Instructions (BEQ, BNE, BLT, BGE…)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56032" y="3191256"/>
            <a:ext cx="1869948" cy="457200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3227832"/>
            <a:ext cx="18333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imm[12|10:5]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4320" y="3456432"/>
            <a:ext cx="18333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7b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144268" y="3191256"/>
            <a:ext cx="1330452" cy="457200"/>
          </a:xfrm>
          <a:prstGeom prst="rect">
            <a:avLst/>
          </a:prstGeom>
          <a:solidFill>
            <a:srgbClr val="0C152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62556" y="3227832"/>
            <a:ext cx="12938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162556" y="3456432"/>
            <a:ext cx="12938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493008" y="3191256"/>
            <a:ext cx="1330452" cy="457200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11296" y="3227832"/>
            <a:ext cx="12938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511296" y="3456432"/>
            <a:ext cx="12938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841748" y="3191256"/>
            <a:ext cx="790956" cy="457200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60036" y="3227832"/>
            <a:ext cx="754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860036" y="345643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3b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5650992" y="3191256"/>
            <a:ext cx="1330452" cy="457200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0" y="3227832"/>
            <a:ext cx="12938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imm[4:1|11]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669280" y="3456432"/>
            <a:ext cx="12938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6999732" y="3191256"/>
            <a:ext cx="1869948" cy="457200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18020" y="3227832"/>
            <a:ext cx="18333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018020" y="3456432"/>
            <a:ext cx="18333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7b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256032" y="37124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Decode:  BEQ x10, x11, +16   [Branch +16 bytes if x10==x11]   =  0x00B50863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56032" y="3986784"/>
            <a:ext cx="1869948" cy="475488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4014216"/>
            <a:ext cx="1833372" cy="247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274320" y="4262567"/>
            <a:ext cx="1833372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imm[12|10:5]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2144268" y="3986784"/>
            <a:ext cx="1330452" cy="475488"/>
          </a:xfrm>
          <a:prstGeom prst="rect">
            <a:avLst/>
          </a:prstGeom>
          <a:solidFill>
            <a:srgbClr val="1A081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62556" y="4014216"/>
            <a:ext cx="1293876" cy="247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01011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2162556" y="4262567"/>
            <a:ext cx="1293876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rs2=x11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3493008" y="3986784"/>
            <a:ext cx="1330452" cy="475488"/>
          </a:xfrm>
          <a:prstGeom prst="rect">
            <a:avLst/>
          </a:prstGeom>
          <a:solidFill>
            <a:srgbClr val="0712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511296" y="4014216"/>
            <a:ext cx="1293876" cy="247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01010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3511296" y="4262567"/>
            <a:ext cx="1293876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rs1=x10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4841748" y="3986784"/>
            <a:ext cx="790956" cy="475488"/>
          </a:xfrm>
          <a:prstGeom prst="rect">
            <a:avLst/>
          </a:prstGeom>
          <a:solidFill>
            <a:srgbClr val="120A1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60036" y="4014216"/>
            <a:ext cx="754380" cy="247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4860036" y="4262567"/>
            <a:ext cx="754380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funct3=BEQ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5650992" y="3986784"/>
            <a:ext cx="1330452" cy="475488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69280" y="4014216"/>
            <a:ext cx="1293876" cy="247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669280" y="4262567"/>
            <a:ext cx="1293876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imm[4:1|11]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6999732" y="3986784"/>
            <a:ext cx="1869948" cy="475488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018020" y="4014216"/>
            <a:ext cx="1833372" cy="247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1100011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7018020" y="4262567"/>
            <a:ext cx="1833372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opcode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56032" y="45171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Reassemble: imm[12]=0, imm[11]=1, imm[10:5]=000000, imm[4:1]=1000, imm[0]=0 → 0 0001 0000 0 = +16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256032" y="47548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B923C"/>
                </a:solidFill>
              </a:rPr>
              <a:t>B-type offset is in units of 2 (LSB is always 0 — branches target 2-byte aligned addresses). Max range: ±4 KB.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U-Type &amp; J-Type Formats — Upper Immediate &amp; Unconditional Jump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4BF"/>
                </a:solidFill>
              </a:rPr>
              <a:t>U-type: 20-bit immediate placed in bits[31:12] · J-type: 21-bit PC-relative offset, bit-scrambled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8595360" cy="20117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86968"/>
            <a:ext cx="8631936" cy="2194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8869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U-TYPE  —  Upper Immediate (LUI, AUIPC)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133856"/>
            <a:ext cx="5376672" cy="457200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70432"/>
            <a:ext cx="534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imm[31:12]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399032"/>
            <a:ext cx="5340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20b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650992" y="1133856"/>
            <a:ext cx="1330452" cy="457200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170432"/>
            <a:ext cx="12938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0" y="1399032"/>
            <a:ext cx="12938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999732" y="1133856"/>
            <a:ext cx="1869948" cy="457200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18020" y="1170432"/>
            <a:ext cx="18333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18020" y="1399032"/>
            <a:ext cx="18333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7b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6032" y="16642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55F7"/>
                </a:solidFill>
              </a:rPr>
              <a:t>Decode:  LUI x10, 0x12345   [x10 = 0x12345000]   =  0x123450B7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6032" y="1938528"/>
            <a:ext cx="5376672" cy="475488"/>
          </a:xfrm>
          <a:prstGeom prst="rect">
            <a:avLst/>
          </a:prstGeom>
          <a:solidFill>
            <a:srgbClr val="120A1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965960"/>
            <a:ext cx="5340096" cy="247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00010010001101000101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2214311"/>
            <a:ext cx="5340096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imm[31:12]=0x12345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650992" y="1938528"/>
            <a:ext cx="1330452" cy="475488"/>
          </a:xfrm>
          <a:prstGeom prst="rect">
            <a:avLst/>
          </a:prstGeom>
          <a:solidFill>
            <a:srgbClr val="0315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965960"/>
            <a:ext cx="1293876" cy="247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01010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0" y="2214311"/>
            <a:ext cx="1293876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rd=x10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999732" y="1938528"/>
            <a:ext cx="1869948" cy="475488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18020" y="1965960"/>
            <a:ext cx="1833372" cy="247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0110111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018020" y="2214311"/>
            <a:ext cx="1833372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opcode=LUI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56032" y="24688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BF"/>
                </a:solidFill>
              </a:rPr>
              <a:t>Result: x10 = 0x12345 &lt;&lt; 12 = 0x12345000.  Lower 12 bits always zero.  AUIPC adds PC instead.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2761488"/>
            <a:ext cx="822960" cy="219456"/>
          </a:xfrm>
          <a:prstGeom prst="rect">
            <a:avLst/>
          </a:prstGeom>
          <a:solidFill>
            <a:srgbClr val="A855F7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" y="27614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Mnemonic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97280" y="2761488"/>
            <a:ext cx="1005840" cy="219456"/>
          </a:xfrm>
          <a:prstGeom prst="rect">
            <a:avLst/>
          </a:prstGeom>
          <a:solidFill>
            <a:srgbClr val="A855F7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52144" y="27614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121408" y="2761488"/>
            <a:ext cx="2286000" cy="219456"/>
          </a:xfrm>
          <a:prstGeom prst="rect">
            <a:avLst/>
          </a:prstGeom>
          <a:solidFill>
            <a:srgbClr val="A855F7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76272" y="27614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25696" y="2761488"/>
            <a:ext cx="4206240" cy="219456"/>
          </a:xfrm>
          <a:prstGeom prst="rect">
            <a:avLst/>
          </a:prstGeom>
          <a:solidFill>
            <a:srgbClr val="A855F7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27614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017520"/>
            <a:ext cx="822960" cy="21945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" y="30175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97280" y="3017520"/>
            <a:ext cx="1005840" cy="21945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52144" y="3017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0110111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121408" y="3017520"/>
            <a:ext cx="2286000" cy="21945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76272" y="3017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imm[31:12] &lt;&lt; 12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25696" y="3017520"/>
            <a:ext cx="4206240" cy="21945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3017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32-bit constant (upper 20 bits)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6032" y="3273552"/>
            <a:ext cx="822960" cy="21945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0896" y="32735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AUIPC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97280" y="3273552"/>
            <a:ext cx="1005840" cy="21945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52144" y="32735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0010111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121408" y="3273552"/>
            <a:ext cx="2286000" cy="219456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76272" y="32735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PC + (imm[31:12] &lt;&lt; 12)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425696" y="3273552"/>
            <a:ext cx="4206240" cy="219456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80560" y="32735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PC-relative addressing / CALL setup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56032" y="3310128"/>
            <a:ext cx="8631936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9184" y="33101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J-TYPE  —  Unconditional Jump (JAL)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56032" y="3557016"/>
            <a:ext cx="5376672" cy="457200"/>
          </a:xfrm>
          <a:prstGeom prst="rect">
            <a:avLst/>
          </a:prstGeom>
          <a:solidFill>
            <a:srgbClr val="0C152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3593592"/>
            <a:ext cx="534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imm[20|10:1|11|19:12]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74320" y="3822192"/>
            <a:ext cx="5340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20b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650992" y="3557016"/>
            <a:ext cx="1330452" cy="457200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9280" y="3593592"/>
            <a:ext cx="12938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669280" y="3822192"/>
            <a:ext cx="12938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5b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999732" y="3557016"/>
            <a:ext cx="1869948" cy="457200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18020" y="3593592"/>
            <a:ext cx="18333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018020" y="3822192"/>
            <a:ext cx="18333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5468"/>
                </a:solidFill>
              </a:rPr>
              <a:t>7b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56032" y="407822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B6D4"/>
                </a:solidFill>
              </a:rPr>
              <a:t>Decode:  JAL x1, +100   [Jump +100 bytes, save PC+4 into x1]   =  0x064000EF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256032" y="4352544"/>
            <a:ext cx="5376672" cy="475488"/>
          </a:xfrm>
          <a:prstGeom prst="rect">
            <a:avLst/>
          </a:prstGeom>
          <a:solidFill>
            <a:srgbClr val="02141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379976"/>
            <a:ext cx="5340096" cy="247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00000110010000000000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74320" y="4628327"/>
            <a:ext cx="5340096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imm scrambled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650992" y="4352544"/>
            <a:ext cx="1330452" cy="475488"/>
          </a:xfrm>
          <a:prstGeom prst="rect">
            <a:avLst/>
          </a:prstGeom>
          <a:solidFill>
            <a:srgbClr val="0315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0" y="4379976"/>
            <a:ext cx="1293876" cy="247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00001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669280" y="4628327"/>
            <a:ext cx="1293876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rd=x1 (ra)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6999732" y="4352544"/>
            <a:ext cx="1869948" cy="475488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18020" y="4379976"/>
            <a:ext cx="1833372" cy="247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1101111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018020" y="4628327"/>
            <a:ext cx="1833372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opcode=JAL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256032" y="4901184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B923C"/>
                </a:solidFill>
              </a:rPr>
              <a:t>J-type bit scramble: instr[31]→imm[20], instr[30:21]→imm[10:1], instr[20]→imm[11], instr[19:12]→imm[19:12], imm[0]=0.  Max range: ±1 MB.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RV32I Opcode Map — Decoding opcode[6:0]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4BF"/>
                </a:solidFill>
              </a:rPr>
              <a:t>All RV32I opcodes end in 11 (bits[1:0]=11). The 5 bits above select the instruction class.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8595360" cy="2011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86968"/>
            <a:ext cx="8631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8F5"/>
                </a:solidFill>
              </a:rPr>
              <a:t>Step 1 in decoding: read bits[6:0] of the instruction word.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188720"/>
            <a:ext cx="4242816" cy="566928"/>
          </a:xfrm>
          <a:prstGeom prst="rect">
            <a:avLst/>
          </a:prstGeom>
          <a:solidFill>
            <a:srgbClr val="0C1520"/>
          </a:solidFill>
          <a:ln w="12700">
            <a:solidFill>
              <a:srgbClr val="F43F5E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88720"/>
            <a:ext cx="54864" cy="5669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2344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44752" y="12344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57984" y="12344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</a:rPr>
              <a:t>R-type (ALU)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" y="1517904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</a:rPr>
              <a:t>ADD SUB AND OR XOR SLL SRL SRA SLT SLTU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847088"/>
            <a:ext cx="4242816" cy="566928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847088"/>
            <a:ext cx="54864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189280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0010011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44752" y="189280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57984" y="18928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I-type (Arith)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" y="2176272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</a:rPr>
              <a:t>ADDI SLTI ANDI ORI XORI SLLI SRLI SRAI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2505456"/>
            <a:ext cx="4242816" cy="566928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505456"/>
            <a:ext cx="54864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255117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0000011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44752" y="25511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57984" y="25511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I-type (Load)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" y="2834640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</a:rPr>
              <a:t>LW LH LB LHU LBU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3163824"/>
            <a:ext cx="4242816" cy="566928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3163824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320954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0100011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44752" y="32095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0x23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57984" y="32095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S-type (Store)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0624" y="3493008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</a:rPr>
              <a:t>SW SH SB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3822192"/>
            <a:ext cx="4242816" cy="566928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822192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" y="386791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1100011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444752" y="386791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0x63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57984" y="38679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B-type (Branch)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20624" y="4151376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</a:rPr>
              <a:t>BEQ BNE BLT BGE BLTU BGEU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4480560"/>
            <a:ext cx="4242816" cy="566928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4480560"/>
            <a:ext cx="54864" cy="5669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452628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0110111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444752" y="45262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157984" y="45262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U-type LUI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0624" y="4809744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</a:rPr>
              <a:t>LUI — Load Upper Immediate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1188720"/>
            <a:ext cx="4242816" cy="566928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1188720"/>
            <a:ext cx="54864" cy="5669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12344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0010111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852160" y="12344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0x17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565392" y="12344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U-type AUIPC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28032" y="1517904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</a:rPr>
              <a:t>AUIPC — Add Upper Immediate to PC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1847088"/>
            <a:ext cx="4242816" cy="566928"/>
          </a:xfrm>
          <a:prstGeom prst="rect">
            <a:avLst/>
          </a:prstGeom>
          <a:solidFill>
            <a:srgbClr val="0C1520"/>
          </a:solidFill>
          <a:ln w="12700">
            <a:solidFill>
              <a:srgbClr val="06B6D4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1847088"/>
            <a:ext cx="5486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189280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1101111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852160" y="189280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0x6F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65392" y="18928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J-type JAL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28032" y="2176272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</a:rPr>
              <a:t>JAL — Jump And Link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63440" y="2505456"/>
            <a:ext cx="4242816" cy="566928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663440" y="2505456"/>
            <a:ext cx="54864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255117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1100111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852160" y="25511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0x67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565392" y="25511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I-type JALR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828032" y="2834640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</a:rPr>
              <a:t>JALR — Jump And Link Register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663440" y="3163824"/>
            <a:ext cx="4242816" cy="566928"/>
          </a:xfrm>
          <a:prstGeom prst="rect">
            <a:avLst/>
          </a:prstGeom>
          <a:solidFill>
            <a:srgbClr val="0C1520"/>
          </a:solidFill>
          <a:ln w="12700">
            <a:solidFill>
              <a:srgbClr val="8BA4BF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663440" y="3163824"/>
            <a:ext cx="54864" cy="566928"/>
          </a:xfrm>
          <a:prstGeom prst="rect">
            <a:avLst/>
          </a:prstGeom>
          <a:solidFill>
            <a:srgbClr val="8BA4BF"/>
          </a:solidFill>
          <a:ln w="12700">
            <a:solidFill>
              <a:srgbClr val="8BA4B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28032" y="320954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1110011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852160" y="32095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0x73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565392" y="32095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4BF"/>
                </a:solidFill>
              </a:rPr>
              <a:t>SYSTEM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828032" y="3493008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</a:rPr>
              <a:t>ECALL EBREAK  (and CSR instructions)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663440" y="3822192"/>
            <a:ext cx="4242816" cy="566928"/>
          </a:xfrm>
          <a:prstGeom prst="rect">
            <a:avLst/>
          </a:prstGeom>
          <a:solidFill>
            <a:srgbClr val="0C1520"/>
          </a:solidFill>
          <a:ln w="12700">
            <a:solidFill>
              <a:srgbClr val="3D5468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663440" y="3822192"/>
            <a:ext cx="54864" cy="566928"/>
          </a:xfrm>
          <a:prstGeom prst="rect">
            <a:avLst/>
          </a:prstGeom>
          <a:solidFill>
            <a:srgbClr val="3D5468"/>
          </a:solidFill>
          <a:ln w="12700">
            <a:solidFill>
              <a:srgbClr val="3D546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28032" y="386791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4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0001111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852160" y="386791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0x0F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565392" y="38679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468"/>
                </a:solidFill>
              </a:rPr>
              <a:t>MISC-MEM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828032" y="4151376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</a:rPr>
              <a:t>FENCE  FENCE.I  — memory ordering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Instruction Reference — Arithmetic, Logic &amp; Shifts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4BF"/>
                </a:solidFill>
              </a:rPr>
              <a:t>R-type and I-type arithmetic · all share opcode 0110011 (R) or 0010011 (I)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8595360" cy="20117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14400"/>
            <a:ext cx="8631936" cy="274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914400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ARITHMETIC — R-type (opcode=0110011)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207008"/>
            <a:ext cx="640080" cy="201168"/>
          </a:xfrm>
          <a:prstGeom prst="rect">
            <a:avLst/>
          </a:prstGeom>
          <a:solidFill>
            <a:srgbClr val="F43F5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2070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Mnemonic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14400" y="1207008"/>
            <a:ext cx="2286000" cy="201168"/>
          </a:xfrm>
          <a:prstGeom prst="rect">
            <a:avLst/>
          </a:prstGeom>
          <a:solidFill>
            <a:srgbClr val="F43F5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2070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18688" y="1207008"/>
            <a:ext cx="1005840" cy="201168"/>
          </a:xfrm>
          <a:prstGeom prst="rect">
            <a:avLst/>
          </a:prstGeom>
          <a:solidFill>
            <a:srgbClr val="F43F5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2070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42816" y="1207008"/>
            <a:ext cx="685800" cy="201168"/>
          </a:xfrm>
          <a:prstGeom prst="rect">
            <a:avLst/>
          </a:prstGeom>
          <a:solidFill>
            <a:srgbClr val="F43F5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2070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46904" y="1207008"/>
            <a:ext cx="868680" cy="201168"/>
          </a:xfrm>
          <a:prstGeom prst="rect">
            <a:avLst/>
          </a:prstGeom>
          <a:solidFill>
            <a:srgbClr val="F43F5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12070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funct7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33872" y="1207008"/>
            <a:ext cx="2414016" cy="201168"/>
          </a:xfrm>
          <a:prstGeom prst="rect">
            <a:avLst/>
          </a:prstGeom>
          <a:solidFill>
            <a:srgbClr val="F43F5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88736" y="120700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408176"/>
            <a:ext cx="6400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14081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1408176"/>
            <a:ext cx="22860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14081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+ rs2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18688" y="1408176"/>
            <a:ext cx="100584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14081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42816" y="1408176"/>
            <a:ext cx="6858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14081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46904" y="1408176"/>
            <a:ext cx="8686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768" y="14081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33872" y="1408176"/>
            <a:ext cx="2414016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88736" y="140817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Signed/unsigned add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" y="1591056"/>
            <a:ext cx="6400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15910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14400" y="1591056"/>
            <a:ext cx="22860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" y="15910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rs1 - rs2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18688" y="1591056"/>
            <a:ext cx="100584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3552" y="15910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42816" y="1591056"/>
            <a:ext cx="6858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159105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46904" y="1591056"/>
            <a:ext cx="8686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01768" y="15910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0100000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833872" y="1591056"/>
            <a:ext cx="2414016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8736" y="159105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funct7[5]=1 distinguishes from ADD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6032" y="1773936"/>
            <a:ext cx="6400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0896" y="17739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14400" y="1773936"/>
            <a:ext cx="22860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9264" y="17739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+ sext(imm12)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18688" y="1773936"/>
            <a:ext cx="100584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73552" y="17739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0010011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242816" y="1773936"/>
            <a:ext cx="6858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97680" y="17739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46904" y="1773936"/>
            <a:ext cx="8686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01768" y="177393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33872" y="1773936"/>
            <a:ext cx="2414016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88736" y="177393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I-type; no SUBI (use ADDI with -imm)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56032" y="2011680"/>
            <a:ext cx="8631936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9184" y="2011680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LOGIC — R-type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56032" y="2304288"/>
            <a:ext cx="64008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0896" y="23042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Mnemonic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914400" y="2304288"/>
            <a:ext cx="228600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69264" y="23042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218688" y="2304288"/>
            <a:ext cx="100584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73552" y="2304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242816" y="2304288"/>
            <a:ext cx="68580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97680" y="23042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946904" y="2304288"/>
            <a:ext cx="86868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01768" y="23042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funct7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833872" y="2304288"/>
            <a:ext cx="2414016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88736" y="230428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56032" y="2505456"/>
            <a:ext cx="6400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0896" y="25054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914400" y="2505456"/>
            <a:ext cx="22860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69264" y="25054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&amp; rs2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218688" y="2505456"/>
            <a:ext cx="100584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73552" y="25054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242816" y="2505456"/>
            <a:ext cx="6858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97680" y="250545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946904" y="2505456"/>
            <a:ext cx="8686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01768" y="25054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833872" y="2505456"/>
            <a:ext cx="2414016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88736" y="250545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Bitwise AND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56032" y="2688336"/>
            <a:ext cx="6400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10896" y="2688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0" y="2688336"/>
            <a:ext cx="22860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69264" y="26883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| rs2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18688" y="2688336"/>
            <a:ext cx="100584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273552" y="2688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242816" y="2688336"/>
            <a:ext cx="6858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297680" y="26883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946904" y="2688336"/>
            <a:ext cx="8686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001768" y="268833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833872" y="2688336"/>
            <a:ext cx="2414016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888736" y="268833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Bitwise OR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56032" y="2871216"/>
            <a:ext cx="6400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10896" y="28712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XOR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914400" y="2871216"/>
            <a:ext cx="22860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69264" y="28712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^ rs2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3218688" y="2871216"/>
            <a:ext cx="100584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273552" y="28712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242816" y="2871216"/>
            <a:ext cx="6858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297680" y="28712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4946904" y="2871216"/>
            <a:ext cx="8686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001768" y="287121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5833872" y="2871216"/>
            <a:ext cx="2414016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888736" y="287121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Bitwise XOR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56032" y="3054096"/>
            <a:ext cx="6400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10896" y="30540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ANDI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914400" y="3054096"/>
            <a:ext cx="22860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69264" y="30540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&amp; sext(imm)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3218688" y="3054096"/>
            <a:ext cx="100584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273552" y="3054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0010011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4242816" y="3054096"/>
            <a:ext cx="6858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297680" y="30540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4946904" y="3054096"/>
            <a:ext cx="8686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001768" y="305409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5833872" y="3054096"/>
            <a:ext cx="2414016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888736" y="305409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immediate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256032" y="3236976"/>
            <a:ext cx="6400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10896" y="32369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914400" y="3236976"/>
            <a:ext cx="22860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69264" y="32369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| sext(imm)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3218688" y="3236976"/>
            <a:ext cx="100584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273552" y="32369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0010011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4242816" y="3236976"/>
            <a:ext cx="6858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297680" y="32369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4946904" y="3236976"/>
            <a:ext cx="8686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001768" y="32369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5833872" y="3236976"/>
            <a:ext cx="2414016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888736" y="323697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immediate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256032" y="3419856"/>
            <a:ext cx="6400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10896" y="3419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XORI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914400" y="3419856"/>
            <a:ext cx="22860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969264" y="34198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^ sext(imm)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3218688" y="3419856"/>
            <a:ext cx="100584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273552" y="34198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0010011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4242816" y="3419856"/>
            <a:ext cx="6858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297680" y="341985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4946904" y="3419856"/>
            <a:ext cx="8686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001768" y="34198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5833872" y="3419856"/>
            <a:ext cx="2414016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5888736" y="341985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XOR immediate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256032" y="3657600"/>
            <a:ext cx="8631936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29184" y="3657600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SHIFTS</a:t>
            </a:r>
            <a:endParaRPr lang="en-US" sz="1050" dirty="0"/>
          </a:p>
        </p:txBody>
      </p:sp>
      <p:sp>
        <p:nvSpPr>
          <p:cNvPr id="144" name="Shape 142"/>
          <p:cNvSpPr/>
          <p:nvPr/>
        </p:nvSpPr>
        <p:spPr>
          <a:xfrm>
            <a:off x="256032" y="3950208"/>
            <a:ext cx="64008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310896" y="39502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Mnemonic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914400" y="3950208"/>
            <a:ext cx="228600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69264" y="39502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endParaRPr lang="en-US" sz="950" dirty="0"/>
          </a:p>
        </p:txBody>
      </p:sp>
      <p:sp>
        <p:nvSpPr>
          <p:cNvPr id="148" name="Shape 146"/>
          <p:cNvSpPr/>
          <p:nvPr/>
        </p:nvSpPr>
        <p:spPr>
          <a:xfrm>
            <a:off x="3218688" y="3950208"/>
            <a:ext cx="100584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3273552" y="3950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50" dirty="0"/>
          </a:p>
        </p:txBody>
      </p:sp>
      <p:sp>
        <p:nvSpPr>
          <p:cNvPr id="150" name="Shape 148"/>
          <p:cNvSpPr/>
          <p:nvPr/>
        </p:nvSpPr>
        <p:spPr>
          <a:xfrm>
            <a:off x="4242816" y="3950208"/>
            <a:ext cx="68580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297680" y="39502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</a:t>
            </a:r>
            <a:endParaRPr lang="en-US" sz="950" dirty="0"/>
          </a:p>
        </p:txBody>
      </p:sp>
      <p:sp>
        <p:nvSpPr>
          <p:cNvPr id="152" name="Shape 150"/>
          <p:cNvSpPr/>
          <p:nvPr/>
        </p:nvSpPr>
        <p:spPr>
          <a:xfrm>
            <a:off x="4946904" y="3950208"/>
            <a:ext cx="86868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001768" y="39502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funct7</a:t>
            </a:r>
            <a:endParaRPr lang="en-US" sz="950" dirty="0"/>
          </a:p>
        </p:txBody>
      </p:sp>
      <p:sp>
        <p:nvSpPr>
          <p:cNvPr id="154" name="Shape 152"/>
          <p:cNvSpPr/>
          <p:nvPr/>
        </p:nvSpPr>
        <p:spPr>
          <a:xfrm>
            <a:off x="5833872" y="3950208"/>
            <a:ext cx="2414016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888736" y="395020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</a:t>
            </a:r>
            <a:endParaRPr lang="en-US" sz="950" dirty="0"/>
          </a:p>
        </p:txBody>
      </p:sp>
      <p:sp>
        <p:nvSpPr>
          <p:cNvPr id="156" name="Shape 154"/>
          <p:cNvSpPr/>
          <p:nvPr/>
        </p:nvSpPr>
        <p:spPr>
          <a:xfrm>
            <a:off x="256032" y="4151376"/>
            <a:ext cx="6400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310896" y="4151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914400" y="4151376"/>
            <a:ext cx="22860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969264" y="41513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&lt;&lt; rs2[4:0]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3218688" y="4151376"/>
            <a:ext cx="100584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3273552" y="41513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900" dirty="0"/>
          </a:p>
        </p:txBody>
      </p:sp>
      <p:sp>
        <p:nvSpPr>
          <p:cNvPr id="162" name="Shape 160"/>
          <p:cNvSpPr/>
          <p:nvPr/>
        </p:nvSpPr>
        <p:spPr>
          <a:xfrm>
            <a:off x="4242816" y="4151376"/>
            <a:ext cx="6858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297680" y="4151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4946904" y="4151376"/>
            <a:ext cx="8686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5001768" y="41513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5833872" y="4151376"/>
            <a:ext cx="2414016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5888736" y="415137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Logical shift left</a:t>
            </a: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256032" y="4334256"/>
            <a:ext cx="6400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310896" y="43342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SRL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914400" y="4334256"/>
            <a:ext cx="22860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969264" y="43342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&gt;&gt; rs2[4:0]</a:t>
            </a:r>
            <a:endParaRPr lang="en-US" sz="900" dirty="0"/>
          </a:p>
        </p:txBody>
      </p:sp>
      <p:sp>
        <p:nvSpPr>
          <p:cNvPr id="172" name="Shape 170"/>
          <p:cNvSpPr/>
          <p:nvPr/>
        </p:nvSpPr>
        <p:spPr>
          <a:xfrm>
            <a:off x="3218688" y="4334256"/>
            <a:ext cx="100584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3273552" y="43342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900" dirty="0"/>
          </a:p>
        </p:txBody>
      </p:sp>
      <p:sp>
        <p:nvSpPr>
          <p:cNvPr id="174" name="Shape 172"/>
          <p:cNvSpPr/>
          <p:nvPr/>
        </p:nvSpPr>
        <p:spPr>
          <a:xfrm>
            <a:off x="4242816" y="4334256"/>
            <a:ext cx="6858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4297680" y="433425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900" dirty="0"/>
          </a:p>
        </p:txBody>
      </p:sp>
      <p:sp>
        <p:nvSpPr>
          <p:cNvPr id="176" name="Shape 174"/>
          <p:cNvSpPr/>
          <p:nvPr/>
        </p:nvSpPr>
        <p:spPr>
          <a:xfrm>
            <a:off x="4946904" y="4334256"/>
            <a:ext cx="8686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5001768" y="43342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</a:t>
            </a:r>
            <a:endParaRPr lang="en-US" sz="900" dirty="0"/>
          </a:p>
        </p:txBody>
      </p:sp>
      <p:sp>
        <p:nvSpPr>
          <p:cNvPr id="178" name="Shape 176"/>
          <p:cNvSpPr/>
          <p:nvPr/>
        </p:nvSpPr>
        <p:spPr>
          <a:xfrm>
            <a:off x="5833872" y="4334256"/>
            <a:ext cx="2414016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5888736" y="433425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Logical shift right (zero-fill)</a:t>
            </a:r>
            <a:endParaRPr lang="en-US" sz="900" dirty="0"/>
          </a:p>
        </p:txBody>
      </p:sp>
      <p:sp>
        <p:nvSpPr>
          <p:cNvPr id="180" name="Shape 178"/>
          <p:cNvSpPr/>
          <p:nvPr/>
        </p:nvSpPr>
        <p:spPr>
          <a:xfrm>
            <a:off x="256032" y="4517136"/>
            <a:ext cx="6400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310896" y="45171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</a:t>
            </a:r>
            <a:endParaRPr lang="en-US" sz="900" dirty="0"/>
          </a:p>
        </p:txBody>
      </p:sp>
      <p:sp>
        <p:nvSpPr>
          <p:cNvPr id="182" name="Shape 180"/>
          <p:cNvSpPr/>
          <p:nvPr/>
        </p:nvSpPr>
        <p:spPr>
          <a:xfrm>
            <a:off x="914400" y="4517136"/>
            <a:ext cx="22860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969264" y="45171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&gt;&gt;&gt; rs2[4:0]</a:t>
            </a:r>
            <a:endParaRPr lang="en-US" sz="900" dirty="0"/>
          </a:p>
        </p:txBody>
      </p:sp>
      <p:sp>
        <p:nvSpPr>
          <p:cNvPr id="184" name="Shape 182"/>
          <p:cNvSpPr/>
          <p:nvPr/>
        </p:nvSpPr>
        <p:spPr>
          <a:xfrm>
            <a:off x="3218688" y="4517136"/>
            <a:ext cx="100584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3273552" y="45171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0110011</a:t>
            </a:r>
            <a:endParaRPr lang="en-US" sz="900" dirty="0"/>
          </a:p>
        </p:txBody>
      </p:sp>
      <p:sp>
        <p:nvSpPr>
          <p:cNvPr id="186" name="Shape 184"/>
          <p:cNvSpPr/>
          <p:nvPr/>
        </p:nvSpPr>
        <p:spPr>
          <a:xfrm>
            <a:off x="4242816" y="4517136"/>
            <a:ext cx="6858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4297680" y="45171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900" dirty="0"/>
          </a:p>
        </p:txBody>
      </p:sp>
      <p:sp>
        <p:nvSpPr>
          <p:cNvPr id="188" name="Shape 186"/>
          <p:cNvSpPr/>
          <p:nvPr/>
        </p:nvSpPr>
        <p:spPr>
          <a:xfrm>
            <a:off x="4946904" y="4517136"/>
            <a:ext cx="8686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5001768" y="451713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0100000</a:t>
            </a:r>
            <a:endParaRPr lang="en-US" sz="900" dirty="0"/>
          </a:p>
        </p:txBody>
      </p:sp>
      <p:sp>
        <p:nvSpPr>
          <p:cNvPr id="190" name="Shape 188"/>
          <p:cNvSpPr/>
          <p:nvPr/>
        </p:nvSpPr>
        <p:spPr>
          <a:xfrm>
            <a:off x="5833872" y="4517136"/>
            <a:ext cx="2414016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5888736" y="451713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Arithmetic right (sign-fill)</a:t>
            </a:r>
            <a:endParaRPr lang="en-US" sz="900" dirty="0"/>
          </a:p>
        </p:txBody>
      </p:sp>
      <p:sp>
        <p:nvSpPr>
          <p:cNvPr id="192" name="Shape 190"/>
          <p:cNvSpPr/>
          <p:nvPr/>
        </p:nvSpPr>
        <p:spPr>
          <a:xfrm>
            <a:off x="256032" y="4700016"/>
            <a:ext cx="6400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10896" y="47000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SLLI</a:t>
            </a:r>
            <a:endParaRPr lang="en-US" sz="900" dirty="0"/>
          </a:p>
        </p:txBody>
      </p:sp>
      <p:sp>
        <p:nvSpPr>
          <p:cNvPr id="194" name="Shape 192"/>
          <p:cNvSpPr/>
          <p:nvPr/>
        </p:nvSpPr>
        <p:spPr>
          <a:xfrm>
            <a:off x="914400" y="4700016"/>
            <a:ext cx="22860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969264" y="47000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&lt;&lt; shamt</a:t>
            </a:r>
            <a:endParaRPr lang="en-US" sz="900" dirty="0"/>
          </a:p>
        </p:txBody>
      </p:sp>
      <p:sp>
        <p:nvSpPr>
          <p:cNvPr id="196" name="Shape 194"/>
          <p:cNvSpPr/>
          <p:nvPr/>
        </p:nvSpPr>
        <p:spPr>
          <a:xfrm>
            <a:off x="3218688" y="4700016"/>
            <a:ext cx="100584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3273552" y="47000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0010011</a:t>
            </a:r>
            <a:endParaRPr lang="en-US" sz="900" dirty="0"/>
          </a:p>
        </p:txBody>
      </p:sp>
      <p:sp>
        <p:nvSpPr>
          <p:cNvPr id="198" name="Shape 196"/>
          <p:cNvSpPr/>
          <p:nvPr/>
        </p:nvSpPr>
        <p:spPr>
          <a:xfrm>
            <a:off x="4242816" y="4700016"/>
            <a:ext cx="6858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297680" y="47000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900" dirty="0"/>
          </a:p>
        </p:txBody>
      </p:sp>
      <p:sp>
        <p:nvSpPr>
          <p:cNvPr id="200" name="Shape 198"/>
          <p:cNvSpPr/>
          <p:nvPr/>
        </p:nvSpPr>
        <p:spPr>
          <a:xfrm>
            <a:off x="4946904" y="4700016"/>
            <a:ext cx="8686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5001768" y="470001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000000x</a:t>
            </a:r>
            <a:endParaRPr lang="en-US" sz="900" dirty="0"/>
          </a:p>
        </p:txBody>
      </p:sp>
      <p:sp>
        <p:nvSpPr>
          <p:cNvPr id="202" name="Shape 200"/>
          <p:cNvSpPr/>
          <p:nvPr/>
        </p:nvSpPr>
        <p:spPr>
          <a:xfrm>
            <a:off x="5833872" y="4700016"/>
            <a:ext cx="2414016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5888736" y="470001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shamt = imm[4:0]</a:t>
            </a:r>
            <a:endParaRPr lang="en-US" sz="900" dirty="0"/>
          </a:p>
        </p:txBody>
      </p:sp>
      <p:sp>
        <p:nvSpPr>
          <p:cNvPr id="204" name="Shape 202"/>
          <p:cNvSpPr/>
          <p:nvPr/>
        </p:nvSpPr>
        <p:spPr>
          <a:xfrm>
            <a:off x="256032" y="4882896"/>
            <a:ext cx="6400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310896" y="48828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SRLI</a:t>
            </a:r>
            <a:endParaRPr lang="en-US" sz="900" dirty="0"/>
          </a:p>
        </p:txBody>
      </p:sp>
      <p:sp>
        <p:nvSpPr>
          <p:cNvPr id="206" name="Shape 204"/>
          <p:cNvSpPr/>
          <p:nvPr/>
        </p:nvSpPr>
        <p:spPr>
          <a:xfrm>
            <a:off x="914400" y="4882896"/>
            <a:ext cx="22860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969264" y="48828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&gt;&gt; shamt</a:t>
            </a:r>
            <a:endParaRPr lang="en-US" sz="900" dirty="0"/>
          </a:p>
        </p:txBody>
      </p:sp>
      <p:sp>
        <p:nvSpPr>
          <p:cNvPr id="208" name="Shape 206"/>
          <p:cNvSpPr/>
          <p:nvPr/>
        </p:nvSpPr>
        <p:spPr>
          <a:xfrm>
            <a:off x="3218688" y="4882896"/>
            <a:ext cx="100584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3273552" y="4882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0010011</a:t>
            </a:r>
            <a:endParaRPr lang="en-US" sz="900" dirty="0"/>
          </a:p>
        </p:txBody>
      </p:sp>
      <p:sp>
        <p:nvSpPr>
          <p:cNvPr id="210" name="Shape 208"/>
          <p:cNvSpPr/>
          <p:nvPr/>
        </p:nvSpPr>
        <p:spPr>
          <a:xfrm>
            <a:off x="4242816" y="4882896"/>
            <a:ext cx="6858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4297680" y="48828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900" dirty="0"/>
          </a:p>
        </p:txBody>
      </p:sp>
      <p:sp>
        <p:nvSpPr>
          <p:cNvPr id="212" name="Shape 210"/>
          <p:cNvSpPr/>
          <p:nvPr/>
        </p:nvSpPr>
        <p:spPr>
          <a:xfrm>
            <a:off x="4946904" y="4882896"/>
            <a:ext cx="8686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5001768" y="488289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</a:t>
            </a:r>
            <a:endParaRPr lang="en-US" sz="900" dirty="0"/>
          </a:p>
        </p:txBody>
      </p:sp>
      <p:sp>
        <p:nvSpPr>
          <p:cNvPr id="214" name="Shape 212"/>
          <p:cNvSpPr/>
          <p:nvPr/>
        </p:nvSpPr>
        <p:spPr>
          <a:xfrm>
            <a:off x="5833872" y="4882896"/>
            <a:ext cx="2414016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5888736" y="488289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shamt = imm[4:0]</a:t>
            </a:r>
            <a:endParaRPr lang="en-US" sz="900" dirty="0"/>
          </a:p>
        </p:txBody>
      </p:sp>
      <p:sp>
        <p:nvSpPr>
          <p:cNvPr id="216" name="Shape 214"/>
          <p:cNvSpPr/>
          <p:nvPr/>
        </p:nvSpPr>
        <p:spPr>
          <a:xfrm>
            <a:off x="256032" y="5065776"/>
            <a:ext cx="6400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310896" y="50657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SRAI</a:t>
            </a:r>
            <a:endParaRPr lang="en-US" sz="900" dirty="0"/>
          </a:p>
        </p:txBody>
      </p:sp>
      <p:sp>
        <p:nvSpPr>
          <p:cNvPr id="218" name="Shape 216"/>
          <p:cNvSpPr/>
          <p:nvPr/>
        </p:nvSpPr>
        <p:spPr>
          <a:xfrm>
            <a:off x="914400" y="5065776"/>
            <a:ext cx="22860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969264" y="50657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rs1 &gt;&gt;&gt; shamt</a:t>
            </a:r>
            <a:endParaRPr lang="en-US" sz="900" dirty="0"/>
          </a:p>
        </p:txBody>
      </p:sp>
      <p:sp>
        <p:nvSpPr>
          <p:cNvPr id="220" name="Shape 218"/>
          <p:cNvSpPr/>
          <p:nvPr/>
        </p:nvSpPr>
        <p:spPr>
          <a:xfrm>
            <a:off x="3218688" y="5065776"/>
            <a:ext cx="100584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3273552" y="50657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0010011</a:t>
            </a:r>
            <a:endParaRPr lang="en-US" sz="900" dirty="0"/>
          </a:p>
        </p:txBody>
      </p:sp>
      <p:sp>
        <p:nvSpPr>
          <p:cNvPr id="222" name="Shape 220"/>
          <p:cNvSpPr/>
          <p:nvPr/>
        </p:nvSpPr>
        <p:spPr>
          <a:xfrm>
            <a:off x="4242816" y="5065776"/>
            <a:ext cx="685800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4297680" y="50657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900" dirty="0"/>
          </a:p>
        </p:txBody>
      </p:sp>
      <p:sp>
        <p:nvSpPr>
          <p:cNvPr id="224" name="Shape 222"/>
          <p:cNvSpPr/>
          <p:nvPr/>
        </p:nvSpPr>
        <p:spPr>
          <a:xfrm>
            <a:off x="4946904" y="5065776"/>
            <a:ext cx="868680" cy="182880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5001768" y="50657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0100000</a:t>
            </a:r>
            <a:endParaRPr lang="en-US" sz="900" dirty="0"/>
          </a:p>
        </p:txBody>
      </p:sp>
      <p:sp>
        <p:nvSpPr>
          <p:cNvPr id="226" name="Shape 224"/>
          <p:cNvSpPr/>
          <p:nvPr/>
        </p:nvSpPr>
        <p:spPr>
          <a:xfrm>
            <a:off x="5833872" y="5065776"/>
            <a:ext cx="2414016" cy="182880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5888736" y="506577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shamt = imm[4:0], imm[10]=1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Instruction Reference — Memory, Branch &amp; Control Flow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4BF"/>
                </a:solidFill>
              </a:rPr>
              <a:t>Load/Store access memory · Branches use PC-relative offset · JAL/JALR for calls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8595360" cy="2011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14400"/>
            <a:ext cx="8631936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914400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LOADS — I-type (opcode=0000011)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188720"/>
            <a:ext cx="658368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18872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Mnemonic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32688" y="1188720"/>
            <a:ext cx="2331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188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82696" y="1188720"/>
            <a:ext cx="100584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188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06824" y="1188720"/>
            <a:ext cx="68580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1688" y="11887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10912" y="1188720"/>
            <a:ext cx="68580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65776" y="11887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funct7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15000" y="1188720"/>
            <a:ext cx="2258568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9864" y="1188720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371600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1371600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32688" y="1371600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1371600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Mem32[rs1+sext(imm)]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82696" y="1371600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137160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0000011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06824" y="1371600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61688" y="1371600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10912" y="1371600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1371600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715000" y="1371600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9864" y="1371600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32-bit word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" y="1540764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1540764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32688" y="1540764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" y="1540764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sext(Mem16[rs1+sext(imm)])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82696" y="1540764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1540764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0000011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306824" y="1540764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61688" y="1540764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10912" y="1540764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65776" y="1540764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15000" y="1540764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9864" y="1540764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16-bit signed half-word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6032" y="1709928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0896" y="1709928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32688" y="1709928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7552" y="1709928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sext(Mem8[rs1+sext(imm)])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82696" y="1709928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37560" y="1709928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0000011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06824" y="1709928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61688" y="1709928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010912" y="1709928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65776" y="1709928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715000" y="1709928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9864" y="1709928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8-bit signed byte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56032" y="1879092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" y="1879092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LHU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32688" y="1879092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87552" y="1879092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zext(Mem16[rs1+sext(imm)])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82696" y="1879092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37560" y="1879092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0000011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306824" y="1879092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61688" y="1879092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010912" y="1879092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65776" y="1879092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715000" y="1879092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69864" y="1879092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16-bit unsigned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56032" y="2048256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0896" y="2048256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LBU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32688" y="2048256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87552" y="2048256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zext(Mem8[rs1+sext(imm)])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282696" y="2048256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337560" y="2048256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0000011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306824" y="2048256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61688" y="2048256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010912" y="2048256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65776" y="2048256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715000" y="2048256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69864" y="2048256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8-bit unsigned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56032" y="2253996"/>
            <a:ext cx="8631936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9184" y="2253996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STORES — S-type (opcode=0100011)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256032" y="2528316"/>
            <a:ext cx="658368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10896" y="25283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Mnemonic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932688" y="2528316"/>
            <a:ext cx="233172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87552" y="252831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3282696" y="2528316"/>
            <a:ext cx="100584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25283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306824" y="2528316"/>
            <a:ext cx="68580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61688" y="25283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5010912" y="2528316"/>
            <a:ext cx="68580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065776" y="25283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funct7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5715000" y="2528316"/>
            <a:ext cx="2258568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769864" y="2528316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256032" y="2711196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10896" y="2711196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932688" y="2711196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87552" y="2711196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Mem32[rs1+sext(imm)] = rs2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3282696" y="2711196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337560" y="2711196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0100011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306824" y="2711196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361688" y="2711196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010912" y="2711196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065776" y="2711196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5715000" y="2711196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769864" y="2711196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32-bit word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56032" y="2880360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10896" y="2880360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932688" y="2880360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87552" y="2880360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Mem16[rs1+sext(imm)] = rs2[15:0]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3282696" y="2880360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337560" y="288036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0100011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4306824" y="2880360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361688" y="2880360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5010912" y="2880360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065776" y="2880360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5715000" y="2880360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769864" y="2880360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low 16 bits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256032" y="3049524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10896" y="3049524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932688" y="3049524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87552" y="3049524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Mem8[rs1+sext(imm)]  = rs2[7:0]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3282696" y="3049524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337560" y="3049524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0100011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4306824" y="3049524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361688" y="3049524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5010912" y="3049524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065776" y="3049524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5715000" y="3049524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769864" y="3049524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low 8 bits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256032" y="3255264"/>
            <a:ext cx="8631936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29184" y="3255264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BRANCHES — B-type (opcode=1100011)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256032" y="3529584"/>
            <a:ext cx="658368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10896" y="35295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Mnemonic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932688" y="3529584"/>
            <a:ext cx="23317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87552" y="352958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3282696" y="3529584"/>
            <a:ext cx="100584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337560" y="35295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4306824" y="3529584"/>
            <a:ext cx="68580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361688" y="3529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5010912" y="3529584"/>
            <a:ext cx="68580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5065776" y="3529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funct7</a:t>
            </a:r>
            <a:endParaRPr lang="en-US" sz="950" dirty="0"/>
          </a:p>
        </p:txBody>
      </p:sp>
      <p:sp>
        <p:nvSpPr>
          <p:cNvPr id="142" name="Shape 140"/>
          <p:cNvSpPr/>
          <p:nvPr/>
        </p:nvSpPr>
        <p:spPr>
          <a:xfrm>
            <a:off x="5715000" y="3529584"/>
            <a:ext cx="2258568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769864" y="3529584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256032" y="3712464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310896" y="3712464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BEQ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932688" y="3712464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87552" y="3712464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(rs1==rs2)  PC+=sext(imm)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3282696" y="3712464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3337560" y="3712464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1100011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4306824" y="3712464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361688" y="3712464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5010912" y="3712464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065776" y="3712464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5715000" y="3712464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769864" y="3712464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if equal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256032" y="3881628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310896" y="3881628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BNE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932688" y="3881628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987552" y="3881628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(rs1!=rs2)  PC+=sext(imm)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3282696" y="3881628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3337560" y="3881628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1100011</a:t>
            </a:r>
            <a:endParaRPr lang="en-US" sz="900" dirty="0"/>
          </a:p>
        </p:txBody>
      </p:sp>
      <p:sp>
        <p:nvSpPr>
          <p:cNvPr id="162" name="Shape 160"/>
          <p:cNvSpPr/>
          <p:nvPr/>
        </p:nvSpPr>
        <p:spPr>
          <a:xfrm>
            <a:off x="4306824" y="3881628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361688" y="3881628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5010912" y="3881628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5065776" y="3881628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5715000" y="3881628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5769864" y="3881628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if not equal</a:t>
            </a: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256032" y="4050792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310896" y="4050792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BLT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932688" y="4050792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987552" y="4050792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(rs1&lt;rs2)   PC+=sext(imm)</a:t>
            </a:r>
            <a:endParaRPr lang="en-US" sz="900" dirty="0"/>
          </a:p>
        </p:txBody>
      </p:sp>
      <p:sp>
        <p:nvSpPr>
          <p:cNvPr id="172" name="Shape 170"/>
          <p:cNvSpPr/>
          <p:nvPr/>
        </p:nvSpPr>
        <p:spPr>
          <a:xfrm>
            <a:off x="3282696" y="4050792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3337560" y="4050792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1100011</a:t>
            </a:r>
            <a:endParaRPr lang="en-US" sz="900" dirty="0"/>
          </a:p>
        </p:txBody>
      </p:sp>
      <p:sp>
        <p:nvSpPr>
          <p:cNvPr id="174" name="Shape 172"/>
          <p:cNvSpPr/>
          <p:nvPr/>
        </p:nvSpPr>
        <p:spPr>
          <a:xfrm>
            <a:off x="4306824" y="4050792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4361688" y="4050792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900" dirty="0"/>
          </a:p>
        </p:txBody>
      </p:sp>
      <p:sp>
        <p:nvSpPr>
          <p:cNvPr id="176" name="Shape 174"/>
          <p:cNvSpPr/>
          <p:nvPr/>
        </p:nvSpPr>
        <p:spPr>
          <a:xfrm>
            <a:off x="5010912" y="4050792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5065776" y="4050792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78" name="Shape 176"/>
          <p:cNvSpPr/>
          <p:nvPr/>
        </p:nvSpPr>
        <p:spPr>
          <a:xfrm>
            <a:off x="5715000" y="4050792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5769864" y="4050792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less than (signed)</a:t>
            </a:r>
            <a:endParaRPr lang="en-US" sz="900" dirty="0"/>
          </a:p>
        </p:txBody>
      </p:sp>
      <p:sp>
        <p:nvSpPr>
          <p:cNvPr id="180" name="Shape 178"/>
          <p:cNvSpPr/>
          <p:nvPr/>
        </p:nvSpPr>
        <p:spPr>
          <a:xfrm>
            <a:off x="256032" y="4219956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310896" y="4219956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BGE</a:t>
            </a:r>
            <a:endParaRPr lang="en-US" sz="900" dirty="0"/>
          </a:p>
        </p:txBody>
      </p:sp>
      <p:sp>
        <p:nvSpPr>
          <p:cNvPr id="182" name="Shape 180"/>
          <p:cNvSpPr/>
          <p:nvPr/>
        </p:nvSpPr>
        <p:spPr>
          <a:xfrm>
            <a:off x="932688" y="4219956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987552" y="4219956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(rs1&gt;=rs2)  PC+=sext(imm)</a:t>
            </a:r>
            <a:endParaRPr lang="en-US" sz="900" dirty="0"/>
          </a:p>
        </p:txBody>
      </p:sp>
      <p:sp>
        <p:nvSpPr>
          <p:cNvPr id="184" name="Shape 182"/>
          <p:cNvSpPr/>
          <p:nvPr/>
        </p:nvSpPr>
        <p:spPr>
          <a:xfrm>
            <a:off x="3282696" y="4219956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3337560" y="4219956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1100011</a:t>
            </a:r>
            <a:endParaRPr lang="en-US" sz="900" dirty="0"/>
          </a:p>
        </p:txBody>
      </p:sp>
      <p:sp>
        <p:nvSpPr>
          <p:cNvPr id="186" name="Shape 184"/>
          <p:cNvSpPr/>
          <p:nvPr/>
        </p:nvSpPr>
        <p:spPr>
          <a:xfrm>
            <a:off x="4306824" y="4219956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4361688" y="4219956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900" dirty="0"/>
          </a:p>
        </p:txBody>
      </p:sp>
      <p:sp>
        <p:nvSpPr>
          <p:cNvPr id="188" name="Shape 186"/>
          <p:cNvSpPr/>
          <p:nvPr/>
        </p:nvSpPr>
        <p:spPr>
          <a:xfrm>
            <a:off x="5010912" y="4219956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5065776" y="4219956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90" name="Shape 188"/>
          <p:cNvSpPr/>
          <p:nvPr/>
        </p:nvSpPr>
        <p:spPr>
          <a:xfrm>
            <a:off x="5715000" y="4219956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5769864" y="4219956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greater/equal (signed)</a:t>
            </a:r>
            <a:endParaRPr lang="en-US" sz="900" dirty="0"/>
          </a:p>
        </p:txBody>
      </p:sp>
      <p:sp>
        <p:nvSpPr>
          <p:cNvPr id="192" name="Shape 190"/>
          <p:cNvSpPr/>
          <p:nvPr/>
        </p:nvSpPr>
        <p:spPr>
          <a:xfrm>
            <a:off x="256032" y="4389120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10896" y="4389120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BLTU</a:t>
            </a:r>
            <a:endParaRPr lang="en-US" sz="900" dirty="0"/>
          </a:p>
        </p:txBody>
      </p:sp>
      <p:sp>
        <p:nvSpPr>
          <p:cNvPr id="194" name="Shape 192"/>
          <p:cNvSpPr/>
          <p:nvPr/>
        </p:nvSpPr>
        <p:spPr>
          <a:xfrm>
            <a:off x="932688" y="4389120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987552" y="4389120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(rs1&lt;rs2)   PC+=sext(imm)</a:t>
            </a:r>
            <a:endParaRPr lang="en-US" sz="900" dirty="0"/>
          </a:p>
        </p:txBody>
      </p:sp>
      <p:sp>
        <p:nvSpPr>
          <p:cNvPr id="196" name="Shape 194"/>
          <p:cNvSpPr/>
          <p:nvPr/>
        </p:nvSpPr>
        <p:spPr>
          <a:xfrm>
            <a:off x="3282696" y="4389120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3337560" y="438912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1100011</a:t>
            </a:r>
            <a:endParaRPr lang="en-US" sz="900" dirty="0"/>
          </a:p>
        </p:txBody>
      </p:sp>
      <p:sp>
        <p:nvSpPr>
          <p:cNvPr id="198" name="Shape 196"/>
          <p:cNvSpPr/>
          <p:nvPr/>
        </p:nvSpPr>
        <p:spPr>
          <a:xfrm>
            <a:off x="4306824" y="4389120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361688" y="4389120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900" dirty="0"/>
          </a:p>
        </p:txBody>
      </p:sp>
      <p:sp>
        <p:nvSpPr>
          <p:cNvPr id="200" name="Shape 198"/>
          <p:cNvSpPr/>
          <p:nvPr/>
        </p:nvSpPr>
        <p:spPr>
          <a:xfrm>
            <a:off x="5010912" y="4389120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5065776" y="4389120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02" name="Shape 200"/>
          <p:cNvSpPr/>
          <p:nvPr/>
        </p:nvSpPr>
        <p:spPr>
          <a:xfrm>
            <a:off x="5715000" y="4389120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5769864" y="4389120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less than (unsigned)</a:t>
            </a:r>
            <a:endParaRPr lang="en-US" sz="900" dirty="0"/>
          </a:p>
        </p:txBody>
      </p:sp>
      <p:sp>
        <p:nvSpPr>
          <p:cNvPr id="204" name="Shape 202"/>
          <p:cNvSpPr/>
          <p:nvPr/>
        </p:nvSpPr>
        <p:spPr>
          <a:xfrm>
            <a:off x="256032" y="4558284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310896" y="4558284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BGEU</a:t>
            </a:r>
            <a:endParaRPr lang="en-US" sz="900" dirty="0"/>
          </a:p>
        </p:txBody>
      </p:sp>
      <p:sp>
        <p:nvSpPr>
          <p:cNvPr id="206" name="Shape 204"/>
          <p:cNvSpPr/>
          <p:nvPr/>
        </p:nvSpPr>
        <p:spPr>
          <a:xfrm>
            <a:off x="932688" y="4558284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987552" y="4558284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(rs1&gt;=rs2)  PC+=sext(imm)</a:t>
            </a:r>
            <a:endParaRPr lang="en-US" sz="900" dirty="0"/>
          </a:p>
        </p:txBody>
      </p:sp>
      <p:sp>
        <p:nvSpPr>
          <p:cNvPr id="208" name="Shape 206"/>
          <p:cNvSpPr/>
          <p:nvPr/>
        </p:nvSpPr>
        <p:spPr>
          <a:xfrm>
            <a:off x="3282696" y="4558284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3337560" y="4558284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1100011</a:t>
            </a:r>
            <a:endParaRPr lang="en-US" sz="900" dirty="0"/>
          </a:p>
        </p:txBody>
      </p:sp>
      <p:sp>
        <p:nvSpPr>
          <p:cNvPr id="210" name="Shape 208"/>
          <p:cNvSpPr/>
          <p:nvPr/>
        </p:nvSpPr>
        <p:spPr>
          <a:xfrm>
            <a:off x="4306824" y="4558284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4361688" y="4558284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900" dirty="0"/>
          </a:p>
        </p:txBody>
      </p:sp>
      <p:sp>
        <p:nvSpPr>
          <p:cNvPr id="212" name="Shape 210"/>
          <p:cNvSpPr/>
          <p:nvPr/>
        </p:nvSpPr>
        <p:spPr>
          <a:xfrm>
            <a:off x="5010912" y="4558284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5065776" y="4558284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14" name="Shape 212"/>
          <p:cNvSpPr/>
          <p:nvPr/>
        </p:nvSpPr>
        <p:spPr>
          <a:xfrm>
            <a:off x="5715000" y="4558284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5769864" y="4558284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greater/equal (unsigned)</a:t>
            </a:r>
            <a:endParaRPr lang="en-US" sz="900" dirty="0"/>
          </a:p>
        </p:txBody>
      </p:sp>
      <p:sp>
        <p:nvSpPr>
          <p:cNvPr id="216" name="Shape 214"/>
          <p:cNvSpPr/>
          <p:nvPr/>
        </p:nvSpPr>
        <p:spPr>
          <a:xfrm>
            <a:off x="256032" y="4764024"/>
            <a:ext cx="8631936" cy="274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329184" y="4764024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UPPER IMMEDIATE + JUMP + SYSTEM</a:t>
            </a:r>
            <a:endParaRPr lang="en-US" sz="1050" dirty="0"/>
          </a:p>
        </p:txBody>
      </p:sp>
      <p:sp>
        <p:nvSpPr>
          <p:cNvPr id="218" name="Shape 216"/>
          <p:cNvSpPr/>
          <p:nvPr/>
        </p:nvSpPr>
        <p:spPr>
          <a:xfrm>
            <a:off x="256032" y="5038344"/>
            <a:ext cx="658368" cy="182880"/>
          </a:xfrm>
          <a:prstGeom prst="rect">
            <a:avLst/>
          </a:prstGeom>
          <a:solidFill>
            <a:srgbClr val="A855F7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310896" y="503834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Mnemonic</a:t>
            </a:r>
            <a:endParaRPr lang="en-US" sz="950" dirty="0"/>
          </a:p>
        </p:txBody>
      </p:sp>
      <p:sp>
        <p:nvSpPr>
          <p:cNvPr id="220" name="Shape 218"/>
          <p:cNvSpPr/>
          <p:nvPr/>
        </p:nvSpPr>
        <p:spPr>
          <a:xfrm>
            <a:off x="932688" y="5038344"/>
            <a:ext cx="2331720" cy="182880"/>
          </a:xfrm>
          <a:prstGeom prst="rect">
            <a:avLst/>
          </a:prstGeom>
          <a:solidFill>
            <a:srgbClr val="A855F7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987552" y="503834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endParaRPr lang="en-US" sz="950" dirty="0"/>
          </a:p>
        </p:txBody>
      </p:sp>
      <p:sp>
        <p:nvSpPr>
          <p:cNvPr id="222" name="Shape 220"/>
          <p:cNvSpPr/>
          <p:nvPr/>
        </p:nvSpPr>
        <p:spPr>
          <a:xfrm>
            <a:off x="3282696" y="5038344"/>
            <a:ext cx="1005840" cy="182880"/>
          </a:xfrm>
          <a:prstGeom prst="rect">
            <a:avLst/>
          </a:prstGeom>
          <a:solidFill>
            <a:srgbClr val="A855F7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3337560" y="50383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50" dirty="0"/>
          </a:p>
        </p:txBody>
      </p:sp>
      <p:sp>
        <p:nvSpPr>
          <p:cNvPr id="224" name="Shape 222"/>
          <p:cNvSpPr/>
          <p:nvPr/>
        </p:nvSpPr>
        <p:spPr>
          <a:xfrm>
            <a:off x="4306824" y="5038344"/>
            <a:ext cx="685800" cy="182880"/>
          </a:xfrm>
          <a:prstGeom prst="rect">
            <a:avLst/>
          </a:prstGeom>
          <a:solidFill>
            <a:srgbClr val="A855F7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4361688" y="503834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</a:t>
            </a:r>
            <a:endParaRPr lang="en-US" sz="950" dirty="0"/>
          </a:p>
        </p:txBody>
      </p:sp>
      <p:sp>
        <p:nvSpPr>
          <p:cNvPr id="226" name="Shape 224"/>
          <p:cNvSpPr/>
          <p:nvPr/>
        </p:nvSpPr>
        <p:spPr>
          <a:xfrm>
            <a:off x="5010912" y="5038344"/>
            <a:ext cx="685800" cy="182880"/>
          </a:xfrm>
          <a:prstGeom prst="rect">
            <a:avLst/>
          </a:prstGeom>
          <a:solidFill>
            <a:srgbClr val="A855F7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5065776" y="503834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funct7</a:t>
            </a:r>
            <a:endParaRPr lang="en-US" sz="950" dirty="0"/>
          </a:p>
        </p:txBody>
      </p:sp>
      <p:sp>
        <p:nvSpPr>
          <p:cNvPr id="228" name="Shape 226"/>
          <p:cNvSpPr/>
          <p:nvPr/>
        </p:nvSpPr>
        <p:spPr>
          <a:xfrm>
            <a:off x="5715000" y="5038344"/>
            <a:ext cx="2258568" cy="182880"/>
          </a:xfrm>
          <a:prstGeom prst="rect">
            <a:avLst/>
          </a:prstGeom>
          <a:solidFill>
            <a:srgbClr val="A855F7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5769864" y="5038344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</a:t>
            </a:r>
            <a:endParaRPr lang="en-US" sz="950" dirty="0"/>
          </a:p>
        </p:txBody>
      </p:sp>
      <p:sp>
        <p:nvSpPr>
          <p:cNvPr id="230" name="Shape 228"/>
          <p:cNvSpPr/>
          <p:nvPr/>
        </p:nvSpPr>
        <p:spPr>
          <a:xfrm>
            <a:off x="256032" y="5221224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310896" y="5221224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LUI</a:t>
            </a:r>
            <a:endParaRPr lang="en-US" sz="900" dirty="0"/>
          </a:p>
        </p:txBody>
      </p:sp>
      <p:sp>
        <p:nvSpPr>
          <p:cNvPr id="232" name="Shape 230"/>
          <p:cNvSpPr/>
          <p:nvPr/>
        </p:nvSpPr>
        <p:spPr>
          <a:xfrm>
            <a:off x="932688" y="5221224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987552" y="5221224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imm[31:12]&lt;&lt;12</a:t>
            </a:r>
            <a:endParaRPr lang="en-US" sz="900" dirty="0"/>
          </a:p>
        </p:txBody>
      </p:sp>
      <p:sp>
        <p:nvSpPr>
          <p:cNvPr id="234" name="Shape 232"/>
          <p:cNvSpPr/>
          <p:nvPr/>
        </p:nvSpPr>
        <p:spPr>
          <a:xfrm>
            <a:off x="3282696" y="5221224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3337560" y="5221224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0110111</a:t>
            </a:r>
            <a:endParaRPr lang="en-US" sz="900" dirty="0"/>
          </a:p>
        </p:txBody>
      </p:sp>
      <p:sp>
        <p:nvSpPr>
          <p:cNvPr id="236" name="Shape 234"/>
          <p:cNvSpPr/>
          <p:nvPr/>
        </p:nvSpPr>
        <p:spPr>
          <a:xfrm>
            <a:off x="4306824" y="5221224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4361688" y="5221224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38" name="Shape 236"/>
          <p:cNvSpPr/>
          <p:nvPr/>
        </p:nvSpPr>
        <p:spPr>
          <a:xfrm>
            <a:off x="5010912" y="5221224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5065776" y="5221224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40" name="Shape 238"/>
          <p:cNvSpPr/>
          <p:nvPr/>
        </p:nvSpPr>
        <p:spPr>
          <a:xfrm>
            <a:off x="5715000" y="5221224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5769864" y="5221224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upper 20 bits</a:t>
            </a:r>
            <a:endParaRPr lang="en-US" sz="900" dirty="0"/>
          </a:p>
        </p:txBody>
      </p:sp>
      <p:sp>
        <p:nvSpPr>
          <p:cNvPr id="242" name="Shape 240"/>
          <p:cNvSpPr/>
          <p:nvPr/>
        </p:nvSpPr>
        <p:spPr>
          <a:xfrm>
            <a:off x="256032" y="5390388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310896" y="5390388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AUIPC</a:t>
            </a:r>
            <a:endParaRPr lang="en-US" sz="900" dirty="0"/>
          </a:p>
        </p:txBody>
      </p:sp>
      <p:sp>
        <p:nvSpPr>
          <p:cNvPr id="244" name="Shape 242"/>
          <p:cNvSpPr/>
          <p:nvPr/>
        </p:nvSpPr>
        <p:spPr>
          <a:xfrm>
            <a:off x="932688" y="5390388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987552" y="5390388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 = PC + imm[31:12]&lt;&lt;12</a:t>
            </a:r>
            <a:endParaRPr lang="en-US" sz="900" dirty="0"/>
          </a:p>
        </p:txBody>
      </p:sp>
      <p:sp>
        <p:nvSpPr>
          <p:cNvPr id="246" name="Shape 244"/>
          <p:cNvSpPr/>
          <p:nvPr/>
        </p:nvSpPr>
        <p:spPr>
          <a:xfrm>
            <a:off x="3282696" y="5390388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3337560" y="5390388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0010111</a:t>
            </a:r>
            <a:endParaRPr lang="en-US" sz="900" dirty="0"/>
          </a:p>
        </p:txBody>
      </p:sp>
      <p:sp>
        <p:nvSpPr>
          <p:cNvPr id="248" name="Shape 246"/>
          <p:cNvSpPr/>
          <p:nvPr/>
        </p:nvSpPr>
        <p:spPr>
          <a:xfrm>
            <a:off x="4306824" y="5390388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4361688" y="5390388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50" name="Shape 248"/>
          <p:cNvSpPr/>
          <p:nvPr/>
        </p:nvSpPr>
        <p:spPr>
          <a:xfrm>
            <a:off x="5010912" y="5390388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5065776" y="5390388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52" name="Shape 250"/>
          <p:cNvSpPr/>
          <p:nvPr/>
        </p:nvSpPr>
        <p:spPr>
          <a:xfrm>
            <a:off x="5715000" y="5390388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5769864" y="5390388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PC-relative upper imm</a:t>
            </a:r>
            <a:endParaRPr lang="en-US" sz="900" dirty="0"/>
          </a:p>
        </p:txBody>
      </p:sp>
      <p:sp>
        <p:nvSpPr>
          <p:cNvPr id="254" name="Shape 252"/>
          <p:cNvSpPr/>
          <p:nvPr/>
        </p:nvSpPr>
        <p:spPr>
          <a:xfrm>
            <a:off x="256032" y="5559552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310896" y="5559552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JAL</a:t>
            </a:r>
            <a:endParaRPr lang="en-US" sz="900" dirty="0"/>
          </a:p>
        </p:txBody>
      </p:sp>
      <p:sp>
        <p:nvSpPr>
          <p:cNvPr id="256" name="Shape 254"/>
          <p:cNvSpPr/>
          <p:nvPr/>
        </p:nvSpPr>
        <p:spPr>
          <a:xfrm>
            <a:off x="932688" y="5559552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987552" y="5559552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rd=PC+4; PC+=sext(imm21)</a:t>
            </a:r>
            <a:endParaRPr lang="en-US" sz="900" dirty="0"/>
          </a:p>
        </p:txBody>
      </p:sp>
      <p:sp>
        <p:nvSpPr>
          <p:cNvPr id="258" name="Shape 256"/>
          <p:cNvSpPr/>
          <p:nvPr/>
        </p:nvSpPr>
        <p:spPr>
          <a:xfrm>
            <a:off x="3282696" y="5559552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3337560" y="5559552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1101111</a:t>
            </a:r>
            <a:endParaRPr lang="en-US" sz="900" dirty="0"/>
          </a:p>
        </p:txBody>
      </p:sp>
      <p:sp>
        <p:nvSpPr>
          <p:cNvPr id="260" name="Shape 258"/>
          <p:cNvSpPr/>
          <p:nvPr/>
        </p:nvSpPr>
        <p:spPr>
          <a:xfrm>
            <a:off x="4306824" y="5559552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4361688" y="5559552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62" name="Shape 260"/>
          <p:cNvSpPr/>
          <p:nvPr/>
        </p:nvSpPr>
        <p:spPr>
          <a:xfrm>
            <a:off x="5010912" y="5559552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5065776" y="5559552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64" name="Shape 262"/>
          <p:cNvSpPr/>
          <p:nvPr/>
        </p:nvSpPr>
        <p:spPr>
          <a:xfrm>
            <a:off x="5715000" y="5559552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5769864" y="5559552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Unconditional jump (J-type)</a:t>
            </a:r>
            <a:endParaRPr lang="en-US" sz="900" dirty="0"/>
          </a:p>
        </p:txBody>
      </p:sp>
      <p:sp>
        <p:nvSpPr>
          <p:cNvPr id="266" name="Shape 264"/>
          <p:cNvSpPr/>
          <p:nvPr/>
        </p:nvSpPr>
        <p:spPr>
          <a:xfrm>
            <a:off x="256032" y="5728716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310896" y="5728716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JALR</a:t>
            </a:r>
            <a:endParaRPr lang="en-US" sz="900" dirty="0"/>
          </a:p>
        </p:txBody>
      </p:sp>
      <p:sp>
        <p:nvSpPr>
          <p:cNvPr id="268" name="Shape 266"/>
          <p:cNvSpPr/>
          <p:nvPr/>
        </p:nvSpPr>
        <p:spPr>
          <a:xfrm>
            <a:off x="932688" y="5728716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987552" y="5728716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rd=PC+4; PC=(rs1+sext(imm))&amp;~1</a:t>
            </a:r>
            <a:endParaRPr lang="en-US" sz="900" dirty="0"/>
          </a:p>
        </p:txBody>
      </p:sp>
      <p:sp>
        <p:nvSpPr>
          <p:cNvPr id="270" name="Shape 268"/>
          <p:cNvSpPr/>
          <p:nvPr/>
        </p:nvSpPr>
        <p:spPr>
          <a:xfrm>
            <a:off x="3282696" y="5728716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3337560" y="5728716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1100111</a:t>
            </a:r>
            <a:endParaRPr lang="en-US" sz="900" dirty="0"/>
          </a:p>
        </p:txBody>
      </p:sp>
      <p:sp>
        <p:nvSpPr>
          <p:cNvPr id="272" name="Shape 270"/>
          <p:cNvSpPr/>
          <p:nvPr/>
        </p:nvSpPr>
        <p:spPr>
          <a:xfrm>
            <a:off x="4306824" y="5728716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4361688" y="5728716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900" dirty="0"/>
          </a:p>
        </p:txBody>
      </p:sp>
      <p:sp>
        <p:nvSpPr>
          <p:cNvPr id="274" name="Shape 272"/>
          <p:cNvSpPr/>
          <p:nvPr/>
        </p:nvSpPr>
        <p:spPr>
          <a:xfrm>
            <a:off x="5010912" y="5728716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5065776" y="5728716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76" name="Shape 274"/>
          <p:cNvSpPr/>
          <p:nvPr/>
        </p:nvSpPr>
        <p:spPr>
          <a:xfrm>
            <a:off x="5715000" y="5728716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5769864" y="5728716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 register (I-type)</a:t>
            </a:r>
            <a:endParaRPr lang="en-US" sz="900" dirty="0"/>
          </a:p>
        </p:txBody>
      </p:sp>
      <p:sp>
        <p:nvSpPr>
          <p:cNvPr id="278" name="Shape 276"/>
          <p:cNvSpPr/>
          <p:nvPr/>
        </p:nvSpPr>
        <p:spPr>
          <a:xfrm>
            <a:off x="256032" y="5897880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310896" y="5897880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ECALL</a:t>
            </a:r>
            <a:endParaRPr lang="en-US" sz="900" dirty="0"/>
          </a:p>
        </p:txBody>
      </p:sp>
      <p:sp>
        <p:nvSpPr>
          <p:cNvPr id="280" name="Shape 278"/>
          <p:cNvSpPr/>
          <p:nvPr/>
        </p:nvSpPr>
        <p:spPr>
          <a:xfrm>
            <a:off x="932688" y="5897880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987552" y="5897880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call</a:t>
            </a:r>
            <a:endParaRPr lang="en-US" sz="900" dirty="0"/>
          </a:p>
        </p:txBody>
      </p:sp>
      <p:sp>
        <p:nvSpPr>
          <p:cNvPr id="282" name="Shape 280"/>
          <p:cNvSpPr/>
          <p:nvPr/>
        </p:nvSpPr>
        <p:spPr>
          <a:xfrm>
            <a:off x="3282696" y="5897880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3337560" y="589788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1110011</a:t>
            </a:r>
            <a:endParaRPr lang="en-US" sz="900" dirty="0"/>
          </a:p>
        </p:txBody>
      </p:sp>
      <p:sp>
        <p:nvSpPr>
          <p:cNvPr id="284" name="Shape 282"/>
          <p:cNvSpPr/>
          <p:nvPr/>
        </p:nvSpPr>
        <p:spPr>
          <a:xfrm>
            <a:off x="4306824" y="5897880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4361688" y="5897880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900" dirty="0"/>
          </a:p>
        </p:txBody>
      </p:sp>
      <p:sp>
        <p:nvSpPr>
          <p:cNvPr id="286" name="Shape 284"/>
          <p:cNvSpPr/>
          <p:nvPr/>
        </p:nvSpPr>
        <p:spPr>
          <a:xfrm>
            <a:off x="5010912" y="5897880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5065776" y="5897880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88" name="Shape 286"/>
          <p:cNvSpPr/>
          <p:nvPr/>
        </p:nvSpPr>
        <p:spPr>
          <a:xfrm>
            <a:off x="5715000" y="5897880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5769864" y="5897880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Syscall to OS</a:t>
            </a:r>
            <a:endParaRPr lang="en-US" sz="900" dirty="0"/>
          </a:p>
        </p:txBody>
      </p:sp>
      <p:sp>
        <p:nvSpPr>
          <p:cNvPr id="290" name="Shape 288"/>
          <p:cNvSpPr/>
          <p:nvPr/>
        </p:nvSpPr>
        <p:spPr>
          <a:xfrm>
            <a:off x="256032" y="6067044"/>
            <a:ext cx="658368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310896" y="6067044"/>
            <a:ext cx="5669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EBREAK</a:t>
            </a:r>
            <a:endParaRPr lang="en-US" sz="900" dirty="0"/>
          </a:p>
        </p:txBody>
      </p:sp>
      <p:sp>
        <p:nvSpPr>
          <p:cNvPr id="292" name="Shape 290"/>
          <p:cNvSpPr/>
          <p:nvPr/>
        </p:nvSpPr>
        <p:spPr>
          <a:xfrm>
            <a:off x="932688" y="6067044"/>
            <a:ext cx="233172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93" name="Text 291"/>
          <p:cNvSpPr/>
          <p:nvPr/>
        </p:nvSpPr>
        <p:spPr>
          <a:xfrm>
            <a:off x="987552" y="6067044"/>
            <a:ext cx="22402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 breakpoint</a:t>
            </a:r>
            <a:endParaRPr lang="en-US" sz="900" dirty="0"/>
          </a:p>
        </p:txBody>
      </p:sp>
      <p:sp>
        <p:nvSpPr>
          <p:cNvPr id="294" name="Shape 292"/>
          <p:cNvSpPr/>
          <p:nvPr/>
        </p:nvSpPr>
        <p:spPr>
          <a:xfrm>
            <a:off x="3282696" y="6067044"/>
            <a:ext cx="100584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3337560" y="6067044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1110011</a:t>
            </a:r>
            <a:endParaRPr lang="en-US" sz="900" dirty="0"/>
          </a:p>
        </p:txBody>
      </p:sp>
      <p:sp>
        <p:nvSpPr>
          <p:cNvPr id="296" name="Shape 294"/>
          <p:cNvSpPr/>
          <p:nvPr/>
        </p:nvSpPr>
        <p:spPr>
          <a:xfrm>
            <a:off x="4306824" y="6067044"/>
            <a:ext cx="685800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97" name="Text 295"/>
          <p:cNvSpPr/>
          <p:nvPr/>
        </p:nvSpPr>
        <p:spPr>
          <a:xfrm>
            <a:off x="4361688" y="6067044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900" dirty="0"/>
          </a:p>
        </p:txBody>
      </p:sp>
      <p:sp>
        <p:nvSpPr>
          <p:cNvPr id="298" name="Shape 296"/>
          <p:cNvSpPr/>
          <p:nvPr/>
        </p:nvSpPr>
        <p:spPr>
          <a:xfrm>
            <a:off x="5010912" y="6067044"/>
            <a:ext cx="685800" cy="169164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99" name="Text 297"/>
          <p:cNvSpPr/>
          <p:nvPr/>
        </p:nvSpPr>
        <p:spPr>
          <a:xfrm>
            <a:off x="5065776" y="6067044"/>
            <a:ext cx="594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00" name="Shape 298"/>
          <p:cNvSpPr/>
          <p:nvPr/>
        </p:nvSpPr>
        <p:spPr>
          <a:xfrm>
            <a:off x="5715000" y="6067044"/>
            <a:ext cx="2258568" cy="169164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5769864" y="6067044"/>
            <a:ext cx="216712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 to debugger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funct3 &amp; funct7 — The Sub-Opcode Fields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4BF"/>
                </a:solidFill>
              </a:rPr>
              <a:t>Multiple instructions share the same opcode · funct3 (3 bits) and funct7 (7 bits) disambiguate them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8595360" cy="20117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32688"/>
            <a:ext cx="4114800" cy="1078992"/>
          </a:xfrm>
          <a:prstGeom prst="rect">
            <a:avLst/>
          </a:prstGeom>
          <a:solidFill>
            <a:srgbClr val="0C1520"/>
          </a:solidFill>
          <a:ln w="12700">
            <a:solidFill>
              <a:srgbClr val="F43F5E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</a:rPr>
              <a:t>Why sub-opcode fields?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31673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4BF"/>
                </a:solidFill>
              </a:rPr>
              <a:t>The 7-bit opcode field would only give 128 unique instructions. By adding funct3 (3 bits) and funct7 (7 bits), each opcode class can encode up to 8 × 128 = 1024 variants — keeping the ISA extensible without wasting opcode space.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2103120"/>
            <a:ext cx="4114800" cy="274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21031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funct3 Encoding  (R-type, opcode=0110011)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" y="2414016"/>
            <a:ext cx="1353312" cy="201168"/>
          </a:xfrm>
          <a:prstGeom prst="rect">
            <a:avLst/>
          </a:prstGeom>
          <a:solidFill>
            <a:srgbClr val="F43F5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24140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27632" y="2414016"/>
            <a:ext cx="1353312" cy="201168"/>
          </a:xfrm>
          <a:prstGeom prst="rect">
            <a:avLst/>
          </a:prstGeom>
          <a:solidFill>
            <a:srgbClr val="F43F5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82496" y="24140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funct7=0000000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99232" y="2414016"/>
            <a:ext cx="1353312" cy="201168"/>
          </a:xfrm>
          <a:prstGeom prst="rect">
            <a:avLst/>
          </a:prstGeom>
          <a:solidFill>
            <a:srgbClr val="F43F5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54096" y="24140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funct7=0100000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2642616"/>
            <a:ext cx="1353312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26426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27632" y="2642616"/>
            <a:ext cx="1353312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82496" y="26426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99232" y="2642616"/>
            <a:ext cx="1353312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54096" y="26426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2871216"/>
            <a:ext cx="1353312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" y="28712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27632" y="2871216"/>
            <a:ext cx="1353312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82496" y="28712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99232" y="2871216"/>
            <a:ext cx="1353312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54096" y="28712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3099816"/>
            <a:ext cx="1353312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30998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27632" y="3099816"/>
            <a:ext cx="1353312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82496" y="30998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999232" y="3099816"/>
            <a:ext cx="1353312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54096" y="30998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3328416"/>
            <a:ext cx="1353312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" y="33284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627632" y="3328416"/>
            <a:ext cx="1353312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82496" y="33284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SLTU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999232" y="3328416"/>
            <a:ext cx="1353312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54096" y="33284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" y="3557016"/>
            <a:ext cx="1353312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" y="35570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27632" y="3557016"/>
            <a:ext cx="1353312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82496" y="35570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999232" y="3557016"/>
            <a:ext cx="1353312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54096" y="35570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6032" y="3785616"/>
            <a:ext cx="1353312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37856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27632" y="3785616"/>
            <a:ext cx="1353312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82496" y="37856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999232" y="3785616"/>
            <a:ext cx="1353312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54096" y="37856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56032" y="4014216"/>
            <a:ext cx="1353312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0896" y="40142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627632" y="4014216"/>
            <a:ext cx="1353312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82496" y="40142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999232" y="4014216"/>
            <a:ext cx="1353312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54096" y="40142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56032" y="4242816"/>
            <a:ext cx="1353312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0896" y="42428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627632" y="4242816"/>
            <a:ext cx="1353312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682496" y="42428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999232" y="4242816"/>
            <a:ext cx="1353312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54096" y="42428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56032" y="4480560"/>
            <a:ext cx="41148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9184" y="448056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funct3 for Branches (opcode=1100011)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256032" y="4791456"/>
            <a:ext cx="64008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0896" y="47914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14400" y="4791456"/>
            <a:ext cx="77724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9264" y="4791456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709928" y="4791456"/>
            <a:ext cx="269748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764792" y="4791456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56032" y="5010912"/>
            <a:ext cx="640080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10896" y="50109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14400" y="5010912"/>
            <a:ext cx="777240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69264" y="5010912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BEQ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709928" y="5010912"/>
            <a:ext cx="2697480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764792" y="5010912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 == rs2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56032" y="5230368"/>
            <a:ext cx="640080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10896" y="52303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914400" y="5230368"/>
            <a:ext cx="777240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69264" y="523036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BNE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1709928" y="5230368"/>
            <a:ext cx="2697480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764792" y="5230368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 != rs2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256032" y="5449824"/>
            <a:ext cx="640080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10896" y="54498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914400" y="5449824"/>
            <a:ext cx="777240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69264" y="5449824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BLT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1709928" y="5449824"/>
            <a:ext cx="2697480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764792" y="544982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 &lt; rs2 (signed)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56032" y="5669280"/>
            <a:ext cx="640080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10896" y="56692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914400" y="5669280"/>
            <a:ext cx="777240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69264" y="5669280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BGE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1709928" y="5669280"/>
            <a:ext cx="2697480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764792" y="5669280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 &gt;= rs2 (signed)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256032" y="5888736"/>
            <a:ext cx="640080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10896" y="58887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914400" y="5888736"/>
            <a:ext cx="777240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69264" y="5888736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BLTU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1709928" y="5888736"/>
            <a:ext cx="2697480" cy="2011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764792" y="5888736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 &lt; rs2 (unsigned)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56032" y="6108192"/>
            <a:ext cx="640080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10896" y="61081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914400" y="6108192"/>
            <a:ext cx="777240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69264" y="6108192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BGEU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1709928" y="6108192"/>
            <a:ext cx="2697480" cy="20116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764792" y="6108192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 &gt;= rs2 (unsigned)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4572000" y="932687"/>
            <a:ext cx="4315968" cy="1614569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0" name="Text 108"/>
          <p:cNvSpPr/>
          <p:nvPr/>
        </p:nvSpPr>
        <p:spPr>
          <a:xfrm>
            <a:off x="4700016" y="1005840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</a:rPr>
              <a:t>funct7 bit[5] — The Critical Toggle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4700016" y="1495860"/>
            <a:ext cx="4041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and SUB share funct3=000. Only funct7[5] differs: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funct7 = 0000000 → ADD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funct7 = 0100000 → SUB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trick for SRL vs SRA (funct3=101):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funct7 = 0000000 → SRL (logical)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funct7 = 0100000 → SRA (arithmetic)</a:t>
            </a:r>
            <a:endParaRPr lang="en-US" sz="900" dirty="0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4BF943F-ED11-F770-C457-28D75A344DFC}"/>
              </a:ext>
            </a:extLst>
          </p:cNvPr>
          <p:cNvGrpSpPr/>
          <p:nvPr/>
        </p:nvGrpSpPr>
        <p:grpSpPr>
          <a:xfrm>
            <a:off x="4517136" y="2615184"/>
            <a:ext cx="4352544" cy="2402913"/>
            <a:chOff x="4535424" y="2478024"/>
            <a:chExt cx="4352544" cy="2402913"/>
          </a:xfrm>
        </p:grpSpPr>
        <p:sp>
          <p:nvSpPr>
            <p:cNvPr id="112" name="Shape 110"/>
            <p:cNvSpPr/>
            <p:nvPr/>
          </p:nvSpPr>
          <p:spPr>
            <a:xfrm>
              <a:off x="4572000" y="2478024"/>
              <a:ext cx="4315968" cy="274320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13" name="Text 111"/>
            <p:cNvSpPr/>
            <p:nvPr/>
          </p:nvSpPr>
          <p:spPr>
            <a:xfrm>
              <a:off x="4663440" y="2478024"/>
              <a:ext cx="4206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</a:rPr>
                <a:t>Shift Immediate Encoding (SLLI/SRLI/SRAI)</a:t>
              </a:r>
              <a:endParaRPr lang="en-US" sz="1050" dirty="0"/>
            </a:p>
          </p:txBody>
        </p:sp>
        <p:sp>
          <p:nvSpPr>
            <p:cNvPr id="114" name="Shape 112"/>
            <p:cNvSpPr/>
            <p:nvPr/>
          </p:nvSpPr>
          <p:spPr>
            <a:xfrm>
              <a:off x="4535424" y="2869257"/>
              <a:ext cx="4315968" cy="2011680"/>
            </a:xfrm>
            <a:prstGeom prst="rect">
              <a:avLst/>
            </a:prstGeom>
            <a:solidFill>
              <a:srgbClr val="020B12"/>
            </a:solidFill>
            <a:ln w="12700">
              <a:solidFill>
                <a:srgbClr val="3D5468"/>
              </a:solidFill>
              <a:prstDash val="solid"/>
            </a:ln>
            <a:effectLst>
              <a:outerShdw blurRad="88900" dist="38100" dir="8100000" algn="bl" rotWithShape="0">
                <a:srgbClr val="000000">
                  <a:alpha val="22000"/>
                </a:srgbClr>
              </a:outerShdw>
            </a:effectLst>
          </p:spPr>
        </p:sp>
        <p:sp>
          <p:nvSpPr>
            <p:cNvPr id="115" name="Text 113"/>
            <p:cNvSpPr/>
            <p:nvPr/>
          </p:nvSpPr>
          <p:spPr>
            <a:xfrm>
              <a:off x="4736592" y="3033849"/>
              <a:ext cx="4114800" cy="1847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3DD68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I-type with special immediate layout:</a:t>
              </a:r>
              <a:endParaRPr lang="en-US" sz="950" dirty="0"/>
            </a:p>
            <a:p>
              <a:pPr marL="0" indent="0">
                <a:buNone/>
              </a:pPr>
              <a:r>
                <a:rPr lang="en-US" sz="950" dirty="0">
                  <a:solidFill>
                    <a:srgbClr val="3DD68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instr[31:25] = 0000000 or 0100000  (func7)</a:t>
              </a:r>
              <a:endParaRPr lang="en-US" sz="950" dirty="0"/>
            </a:p>
            <a:p>
              <a:pPr marL="0" indent="0">
                <a:buNone/>
              </a:pPr>
              <a:r>
                <a:rPr lang="en-US" sz="950" dirty="0">
                  <a:solidFill>
                    <a:srgbClr val="3DD68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instr[24:20] = shamt[4:0]           (shift amount 0-31)</a:t>
              </a:r>
              <a:endParaRPr lang="en-US" sz="950" dirty="0"/>
            </a:p>
            <a:p>
              <a:pPr marL="0" indent="0">
                <a:buNone/>
              </a:pPr>
              <a:r>
                <a:rPr lang="en-US" sz="950" dirty="0">
                  <a:solidFill>
                    <a:srgbClr val="3DD68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instr[19:15] = rs1</a:t>
              </a:r>
              <a:endParaRPr lang="en-US" sz="950" dirty="0"/>
            </a:p>
            <a:p>
              <a:pPr marL="0" indent="0">
                <a:buNone/>
              </a:pPr>
              <a:r>
                <a:rPr lang="en-US" sz="950" dirty="0">
                  <a:solidFill>
                    <a:srgbClr val="3DD68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instr[14:12] = 001(SLL) 101(SRL/SRA)</a:t>
              </a:r>
              <a:endParaRPr lang="en-US" sz="950" dirty="0"/>
            </a:p>
            <a:p>
              <a:pPr marL="0" indent="0">
                <a:buNone/>
              </a:pPr>
              <a:endParaRPr lang="en-US" sz="950" dirty="0"/>
            </a:p>
            <a:p>
              <a:pPr marL="0" indent="0">
                <a:buNone/>
              </a:pPr>
              <a:r>
                <a:rPr lang="en-US" sz="950" dirty="0">
                  <a:solidFill>
                    <a:srgbClr val="3DD68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SLLI x1, x2, 3:</a:t>
              </a:r>
              <a:endParaRPr lang="en-US" sz="950" dirty="0"/>
            </a:p>
            <a:p>
              <a:pPr marL="0" indent="0">
                <a:buNone/>
              </a:pPr>
              <a:r>
                <a:rPr lang="en-US" sz="950" dirty="0">
                  <a:solidFill>
                    <a:srgbClr val="3DD68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imm[11:0] = 000000 00011</a:t>
              </a:r>
              <a:endParaRPr lang="en-US" sz="950" dirty="0"/>
            </a:p>
            <a:p>
              <a:pPr marL="0" indent="0">
                <a:buNone/>
              </a:pPr>
              <a:r>
                <a:rPr lang="en-US" sz="950" dirty="0">
                  <a:solidFill>
                    <a:srgbClr val="3DD68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      ^^^^^^ ↑↑↑↑↑</a:t>
              </a:r>
              <a:endParaRPr lang="en-US" sz="950" dirty="0"/>
            </a:p>
            <a:p>
              <a:pPr marL="0" indent="0">
                <a:buNone/>
              </a:pPr>
              <a:r>
                <a:rPr lang="en-US" sz="950" dirty="0">
                  <a:solidFill>
                    <a:srgbClr val="3DD68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     funct7  shamt=3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Value Encoding — All 5 Formats Compared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4BF"/>
                </a:solidFill>
              </a:rPr>
              <a:t>Each format encodes its immediate in a different bit layout · all sign-extended from instr[31]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8595360" cy="2011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32688"/>
            <a:ext cx="8631936" cy="749808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32688"/>
            <a:ext cx="54864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987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I-type imm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12801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bits: instr[31:20]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60520" y="9875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12-bit signed.  Range: -2048 to +2047.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Used by: ADDI LW LH LB JALR SLTI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60520" y="13533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 = { {20{instr[31]}}, instr[31:20] 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1773936"/>
            <a:ext cx="8631936" cy="749808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1773936"/>
            <a:ext cx="54864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S-type imm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" y="21214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bits: instr[31:25] ++ instr[11:7]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60520" y="18288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12-bit signed (split across two fields).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Used by: SW SH SB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60520" y="2194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 = { {20{instr[31]}}, instr[31:25], instr[11:7] }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615184"/>
            <a:ext cx="8631936" cy="749808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615184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6700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B-type imm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2336" y="29626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bits: imm[12|10:5] imm[4:1|11]  (scrambled)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60520" y="26700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13-bit signed, LSB always 0 (×2 scale).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Used by: BEQ BNE BLT BGE BLTU BGEU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60520" y="30358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 = { {19{instr[31]}}, instr[31], instr[7], instr[30:25], instr[11:8], 1'b0 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3456432"/>
            <a:ext cx="8631936" cy="749808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456432"/>
            <a:ext cx="54864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5112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U-type imm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" y="38039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bits: instr[31:12]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60520" y="35112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20-bit unsigned, placed in bits[31:12].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Used by: LUI AUIPC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60520" y="38770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 = { instr[31:12], 12'b0 }  (lower 12 always zero)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4297680"/>
            <a:ext cx="8631936" cy="749808"/>
          </a:xfrm>
          <a:prstGeom prst="rect">
            <a:avLst/>
          </a:prstGeom>
          <a:solidFill>
            <a:srgbClr val="0C1520"/>
          </a:solidFill>
          <a:ln w="12700">
            <a:solidFill>
              <a:srgbClr val="06B6D4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4297680"/>
            <a:ext cx="54864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43525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J-type imm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2336" y="46451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bits: imm[20|10:1|11|19:12]  (scrambled)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60520" y="43525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21-bit signed, LSB always 0 (×2 scale).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Used by: JAL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60520" y="4718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 = { {11{instr[31]}}, instr[31], instr[19:12], instr[20], instr[30:21], 1'b0 }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5120640"/>
            <a:ext cx="8631936" cy="0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" y="5029200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B923C"/>
                </a:solidFill>
              </a:rPr>
              <a:t>Key insight: ALL immediates are sign-extended from bit[31] of the instruction. The scrambling exists solely to keep rs1, rs2, and funct3 in the same bit positions across all formats — simplifying the decoder hardware.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Decode #1 — LW x14, 12(x2)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4BF"/>
                </a:solidFill>
              </a:rPr>
              <a:t>Machine code: 0x00C12703  ·  Load 32-bit word from memory address (sp + 12) into x14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8595360" cy="2011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Binary: 0000 0000 1100  0001 0010  0111 0  0000 011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1207008"/>
            <a:ext cx="3218688" cy="512064"/>
          </a:xfrm>
          <a:prstGeom prst="rect">
            <a:avLst/>
          </a:prstGeom>
          <a:solidFill>
            <a:srgbClr val="0712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3182112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000000001100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504005"/>
            <a:ext cx="3182112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imm[11:0]=12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493008" y="1207008"/>
            <a:ext cx="1330452" cy="512064"/>
          </a:xfrm>
          <a:prstGeom prst="rect">
            <a:avLst/>
          </a:prstGeom>
          <a:solidFill>
            <a:srgbClr val="0F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1234440"/>
            <a:ext cx="1293876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00010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11296" y="1504005"/>
            <a:ext cx="1293876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rs1=x2(sp)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841748" y="1207008"/>
            <a:ext cx="790956" cy="512064"/>
          </a:xfrm>
          <a:prstGeom prst="rect">
            <a:avLst/>
          </a:prstGeom>
          <a:solidFill>
            <a:srgbClr val="120A1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0036" y="1234440"/>
            <a:ext cx="754380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60036" y="1504005"/>
            <a:ext cx="754380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funct3=LW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650992" y="1207008"/>
            <a:ext cx="1330452" cy="512064"/>
          </a:xfrm>
          <a:prstGeom prst="rect">
            <a:avLst/>
          </a:prstGeom>
          <a:solidFill>
            <a:srgbClr val="0315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1234440"/>
            <a:ext cx="1293876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01110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69280" y="1504005"/>
            <a:ext cx="1293876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rd=x14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999732" y="1207008"/>
            <a:ext cx="1869948" cy="512064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18020" y="1234440"/>
            <a:ext cx="1833372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0000011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018020" y="1504005"/>
            <a:ext cx="1833372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opcode=LOAD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56032" y="1847088"/>
            <a:ext cx="4242816" cy="676656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1847088"/>
            <a:ext cx="4242816" cy="274320"/>
          </a:xfrm>
          <a:prstGeom prst="rect">
            <a:avLst/>
          </a:prstGeom>
          <a:solidFill>
            <a:srgbClr val="0F1E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1883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07592" y="18836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Read opcode[6:0]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7472" y="217627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0000011  =  0x03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 up: 0x03 = LOAD family (I-type)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" y="2615184"/>
            <a:ext cx="4242816" cy="676656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2615184"/>
            <a:ext cx="4242816" cy="274320"/>
          </a:xfrm>
          <a:prstGeom prst="rect">
            <a:avLst/>
          </a:prstGeom>
          <a:solidFill>
            <a:srgbClr val="0F1E2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6517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07592" y="26517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Read funct3[14:12]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7472" y="294436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010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 up: 010 = LW (load 32-bit word)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" y="3383280"/>
            <a:ext cx="4242816" cy="676656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3383280"/>
            <a:ext cx="4242816" cy="274320"/>
          </a:xfrm>
          <a:prstGeom prst="rect">
            <a:avLst/>
          </a:prstGeom>
          <a:solidFill>
            <a:srgbClr val="0F1E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419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07592" y="34198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Read rd[11:7]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47472" y="3712464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01110  =  14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 register: x14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4151376"/>
            <a:ext cx="4242816" cy="676656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4151376"/>
            <a:ext cx="4242816" cy="274320"/>
          </a:xfrm>
          <a:prstGeom prst="rect">
            <a:avLst/>
          </a:prstGeom>
          <a:solidFill>
            <a:srgbClr val="0F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4187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307592" y="41879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Read rs1[19:15]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47472" y="448056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00010  =  2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address register: x2 (= sp)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1847088"/>
            <a:ext cx="4242816" cy="676656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1847088"/>
            <a:ext cx="4242816" cy="274320"/>
          </a:xfrm>
          <a:prstGeom prst="rect">
            <a:avLst/>
          </a:prstGeom>
          <a:solidFill>
            <a:srgbClr val="0F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1883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18836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Read imm[31:20]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54880" y="217627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000000001100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Sign-extend 12 bits → +12  (0x0000000C)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2615184"/>
            <a:ext cx="4242816" cy="676656"/>
          </a:xfrm>
          <a:prstGeom prst="rect">
            <a:avLst/>
          </a:prstGeom>
          <a:solidFill>
            <a:srgbClr val="0C1520"/>
          </a:solidFill>
          <a:ln w="12700">
            <a:solidFill>
              <a:srgbClr val="FB923C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63440" y="2615184"/>
            <a:ext cx="4242816" cy="274320"/>
          </a:xfrm>
          <a:prstGeom prst="rect">
            <a:avLst/>
          </a:prstGeom>
          <a:solidFill>
            <a:srgbClr val="0F1E2E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26517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715000" y="26517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Compute address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754880" y="294436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 = x2 + 12  =  sp + 12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3383280"/>
            <a:ext cx="4242816" cy="676656"/>
          </a:xfrm>
          <a:prstGeom prst="rect">
            <a:avLst/>
          </a:prstGeom>
          <a:solidFill>
            <a:srgbClr val="0C1520"/>
          </a:solidFill>
          <a:ln w="12700">
            <a:solidFill>
              <a:srgbClr val="3DD68C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63440" y="3383280"/>
            <a:ext cx="4242816" cy="274320"/>
          </a:xfrm>
          <a:prstGeom prst="rect">
            <a:avLst/>
          </a:prstGeom>
          <a:solidFill>
            <a:srgbClr val="0F1E2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3419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715000" y="34198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Load word from memory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754880" y="3712464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x14 = Mem32[EA]  =  Mem32[sp + 12]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Decode #2 — BNE x5, x6, -20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4BF"/>
                </a:solidFill>
              </a:rPr>
              <a:t>Machine code: 0xFE629EE3  ·  Branch -20 bytes if x5 ≠ x6  (B-type, scrambled immediate)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8595360" cy="2011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Binary: 1111 1110  0110  0010 1  001  0110 1  110 0011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1207008"/>
            <a:ext cx="1869948" cy="512064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1833372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1111111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504005"/>
            <a:ext cx="1833372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imm[12|10:5]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144268" y="1207008"/>
            <a:ext cx="1330452" cy="512064"/>
          </a:xfrm>
          <a:prstGeom prst="rect">
            <a:avLst/>
          </a:prstGeom>
          <a:solidFill>
            <a:srgbClr val="1A081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62556" y="1234440"/>
            <a:ext cx="1293876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00110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62556" y="1504005"/>
            <a:ext cx="1293876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rs2=x6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493008" y="1207008"/>
            <a:ext cx="1330452" cy="512064"/>
          </a:xfrm>
          <a:prstGeom prst="rect">
            <a:avLst/>
          </a:prstGeom>
          <a:solidFill>
            <a:srgbClr val="0712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1234440"/>
            <a:ext cx="1293876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11296" y="1504005"/>
            <a:ext cx="1293876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rs1=x5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841748" y="1207008"/>
            <a:ext cx="790956" cy="512064"/>
          </a:xfrm>
          <a:prstGeom prst="rect">
            <a:avLst/>
          </a:prstGeom>
          <a:solidFill>
            <a:srgbClr val="120A1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0036" y="1234440"/>
            <a:ext cx="754380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60036" y="1504005"/>
            <a:ext cx="754380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funct3=BNE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650992" y="1207008"/>
            <a:ext cx="1330452" cy="512064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1234440"/>
            <a:ext cx="1293876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0" y="1504005"/>
            <a:ext cx="1293876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imm[4:1|11]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999732" y="1207008"/>
            <a:ext cx="1869948" cy="512064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18020" y="1234440"/>
            <a:ext cx="1833372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1100011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018020" y="1504005"/>
            <a:ext cx="1833372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opcode=BR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6032" y="1847088"/>
            <a:ext cx="8631936" cy="1115568"/>
          </a:xfrm>
          <a:prstGeom prst="rect">
            <a:avLst/>
          </a:prstGeom>
          <a:solidFill>
            <a:srgbClr val="0D2233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" y="1901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B-type Immediate Bit Reconstruction: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" y="2157984"/>
            <a:ext cx="4224528" cy="749808"/>
          </a:xfrm>
          <a:prstGeom prst="rect">
            <a:avLst/>
          </a:prstGeom>
          <a:solidFill>
            <a:srgbClr val="020B12"/>
          </a:solidFill>
          <a:ln w="12700">
            <a:solidFill>
              <a:srgbClr val="3D5468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3776" y="2249424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the instruction bits: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instr[31]    → imm[12]  = 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instr[7]     → imm[11]  = 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instr[30:25] → imm[10:5] = 111111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instr[11:8]  → imm[4:1]  = 0110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imm[0]       → always 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Assembled: imm = 1_1_111111_0110_0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= 1111111101100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= 0xFFFFFFEC  = -20  (sign-extended 13-bit value)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190195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</a:rPr>
              <a:t>Final: if (x5 != x6) then PC = PC + (-20)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2249424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A4BF"/>
                </a:solidFill>
              </a:rPr>
              <a:t>PC steps back 20 bytes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A4BF"/>
                </a:solidFill>
              </a:rPr>
              <a:t>= 5 instructions back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A4BF"/>
                </a:solidFill>
              </a:rPr>
              <a:t>(each instruction = 4 bytes)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2761488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B923C"/>
                </a:solidFill>
              </a:rPr>
              <a:t>If x5 == x6, branch NOT taken → PC += 4 (next instruction)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3090672"/>
            <a:ext cx="4242816" cy="237744"/>
          </a:xfrm>
          <a:prstGeom prst="rect">
            <a:avLst/>
          </a:prstGeom>
          <a:solidFill>
            <a:srgbClr val="0F1E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309067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15568" y="30906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 = 1100011 = 0x63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89504" y="30906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</a:rPr>
              <a:t>→ BRANCH class (B-type)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3346704"/>
            <a:ext cx="4242816" cy="347472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47472" y="3364992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</a:rPr>
              <a:t>Result: → BRANCH class (B-type)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3730752"/>
            <a:ext cx="4242816" cy="237744"/>
          </a:xfrm>
          <a:prstGeom prst="rect">
            <a:avLst/>
          </a:prstGeom>
          <a:solidFill>
            <a:srgbClr val="0F1E2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" y="373075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15568" y="37307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 = 001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889504" y="37307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</a:rPr>
              <a:t>→ BNE (branch if NOT equal)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6032" y="3986784"/>
            <a:ext cx="4242816" cy="347472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47472" y="4005072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</a:rPr>
              <a:t>Result: → BNE (branch if NOT equal)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6032" y="4370832"/>
            <a:ext cx="4242816" cy="237744"/>
          </a:xfrm>
          <a:prstGeom prst="rect">
            <a:avLst/>
          </a:prstGeom>
          <a:solidFill>
            <a:srgbClr val="0F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" y="43708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15568" y="43708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rs1[19:15] = 00101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889504" y="43708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</a:rPr>
              <a:t>→ rs1 = x5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6032" y="4626864"/>
            <a:ext cx="4242816" cy="347472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47472" y="4645152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</a:rPr>
              <a:t>Result: → rs1 = x5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3090672"/>
            <a:ext cx="4242816" cy="237744"/>
          </a:xfrm>
          <a:prstGeom prst="rect">
            <a:avLst/>
          </a:prstGeom>
          <a:solidFill>
            <a:srgbClr val="0F1E2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36592" y="309067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522976" y="30906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rs2[24:20] = 00110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96912" y="30906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</a:rPr>
              <a:t>→ rs2 = x6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63440" y="3346704"/>
            <a:ext cx="4242816" cy="347472"/>
          </a:xfrm>
          <a:prstGeom prst="rect">
            <a:avLst/>
          </a:prstGeom>
          <a:solidFill>
            <a:srgbClr val="0C1520"/>
          </a:solidFill>
          <a:ln w="12700">
            <a:solidFill>
              <a:srgbClr val="F43F5E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754880" y="3364992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</a:rPr>
              <a:t>Result: → rs2 = x6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3730752"/>
            <a:ext cx="4242816" cy="237744"/>
          </a:xfrm>
          <a:prstGeom prst="rect">
            <a:avLst/>
          </a:prstGeom>
          <a:solidFill>
            <a:srgbClr val="0F1E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36592" y="373075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522976" y="37307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Reconstruct imm (see above)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296912" y="37307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</a:rPr>
              <a:t>→ offset = -20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63440" y="3986784"/>
            <a:ext cx="4242816" cy="347472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754880" y="4005072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</a:rPr>
              <a:t>Result: → offset = -20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663440" y="4370832"/>
            <a:ext cx="4242816" cy="237744"/>
          </a:xfrm>
          <a:prstGeom prst="rect">
            <a:avLst/>
          </a:prstGeom>
          <a:solidFill>
            <a:srgbClr val="0F1E2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36592" y="43708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522976" y="43708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Compare: x5 != x6 ?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296912" y="43708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</a:rPr>
              <a:t>If yes: PC = PC + (-20). If no: PC += 4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663440" y="4626864"/>
            <a:ext cx="4242816" cy="347472"/>
          </a:xfrm>
          <a:prstGeom prst="rect">
            <a:avLst/>
          </a:prstGeom>
          <a:solidFill>
            <a:srgbClr val="0C1520"/>
          </a:solidFill>
          <a:ln w="12700">
            <a:solidFill>
              <a:srgbClr val="3DD68C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754880" y="4645152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</a:rPr>
              <a:t>Result: If yes: PC = PC + (-20). If no: PC += 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Decode #3 — JAL x1, +100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4BF"/>
                </a:solidFill>
              </a:rPr>
              <a:t>Machine code: 0x064000EF  ·  Jump +100 bytes, save return address in x1 (ra)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8595360" cy="20117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Binary: 0000 0110 0100  0000 0000  0000 1  110 1111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1207008"/>
            <a:ext cx="5376672" cy="512064"/>
          </a:xfrm>
          <a:prstGeom prst="rect">
            <a:avLst/>
          </a:prstGeom>
          <a:solidFill>
            <a:srgbClr val="02141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5340096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00000110010000000000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504005"/>
            <a:ext cx="5340096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imm scrambled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650992" y="1207008"/>
            <a:ext cx="1330452" cy="512064"/>
          </a:xfrm>
          <a:prstGeom prst="rect">
            <a:avLst/>
          </a:prstGeom>
          <a:solidFill>
            <a:srgbClr val="0315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234440"/>
            <a:ext cx="1293876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0" y="1504005"/>
            <a:ext cx="1293876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rd=x1(ra)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999732" y="1207008"/>
            <a:ext cx="1869948" cy="512064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18020" y="1234440"/>
            <a:ext cx="1833372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1101111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018020" y="1504005"/>
            <a:ext cx="1833372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opcode=JAL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56032" y="1847088"/>
            <a:ext cx="8631936" cy="1298448"/>
          </a:xfrm>
          <a:prstGeom prst="rect">
            <a:avLst/>
          </a:prstGeom>
          <a:solidFill>
            <a:srgbClr val="0D2233"/>
          </a:solidFill>
          <a:ln w="12700">
            <a:solidFill>
              <a:srgbClr val="06B6D4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1901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J-type Immediate Bit Reconstruction (most complex format):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2176272"/>
            <a:ext cx="5138928" cy="914400"/>
          </a:xfrm>
          <a:prstGeom prst="rect">
            <a:avLst/>
          </a:prstGeom>
          <a:solidFill>
            <a:srgbClr val="020B12"/>
          </a:solidFill>
          <a:ln w="12700">
            <a:solidFill>
              <a:srgbClr val="3D5468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" y="2267712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20-bit immediate field from instr[31:12]: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0000 0110 0100 0000 0000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 bits: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instr[31]    → imm[20]   =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instr[19:12] → imm[19:12] = 00000000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instr[20]    → imm[11]   =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instr[30:21] → imm[10:1]  = 0011001000   (= 50 decimal × 2 = 100)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Assembled: 0_00000000_0_0011001000_0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= 0000 0000 0001 1001 0000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= 0x00000064  = +100 bytes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0" y="1901952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Why scrambled?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2176272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4BF"/>
                </a:solidFill>
              </a:rPr>
              <a:t>The bit scrambling keeps the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4BF"/>
                </a:solidFill>
              </a:rPr>
              <a:t>sign bit (imm[20]) in instr[31]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4BF"/>
                </a:solidFill>
              </a:rPr>
              <a:t>for all formats — hardware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4BF"/>
                </a:solidFill>
              </a:rPr>
              <a:t>sign-extender is one-bit wide.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4BF"/>
                </a:solidFill>
              </a:rPr>
              <a:t>All other bits moved to overlap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4BF"/>
                </a:solidFill>
              </a:rPr>
              <a:t>with B-type positions where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4BF"/>
                </a:solidFill>
              </a:rPr>
              <a:t>possible, sharing decode logic.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3236976"/>
            <a:ext cx="8631936" cy="310896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3236976"/>
            <a:ext cx="54864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2369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opcode=1101111=0x6F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39312" y="323697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8F5"/>
                </a:solidFill>
              </a:rPr>
              <a:t>J-type format confirmed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3584448"/>
            <a:ext cx="8631936" cy="310896"/>
          </a:xfrm>
          <a:prstGeom prst="rect">
            <a:avLst/>
          </a:prstGeom>
          <a:solidFill>
            <a:srgbClr val="0F1E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3584448"/>
            <a:ext cx="54864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5844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rd=00001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39312" y="358444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8F5"/>
                </a:solidFill>
              </a:rPr>
              <a:t>Destination = x1 (return address register ra)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3931920"/>
            <a:ext cx="8631936" cy="310896"/>
          </a:xfrm>
          <a:prstGeom prst="rect">
            <a:avLst/>
          </a:prstGeom>
          <a:solidFill>
            <a:srgbClr val="0C152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931920"/>
            <a:ext cx="54864" cy="3108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3931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reconstruct imm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39312" y="393192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8F5"/>
                </a:solidFill>
              </a:rPr>
              <a:t>offset = +100 bytes (25 instructions forward)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4279392"/>
            <a:ext cx="8631936" cy="310896"/>
          </a:xfrm>
          <a:prstGeom prst="rect">
            <a:avLst/>
          </a:prstGeom>
          <a:solidFill>
            <a:srgbClr val="0F1E2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6032" y="4279392"/>
            <a:ext cx="54864" cy="310896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42793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39312" y="427939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8F5"/>
                </a:solidFill>
              </a:rPr>
              <a:t>x1 = PC + 4  (save return address)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" y="4626864"/>
            <a:ext cx="8631936" cy="310896"/>
          </a:xfrm>
          <a:prstGeom prst="rect">
            <a:avLst/>
          </a:prstGeom>
          <a:solidFill>
            <a:srgbClr val="0C1520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4626864"/>
            <a:ext cx="54864" cy="310896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46268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39312" y="462686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8F5"/>
                </a:solidFill>
              </a:rPr>
              <a:t>PC = PC + 100  (jump forward)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Decode #4 — SW x5, -8(x6)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4BF"/>
                </a:solidFill>
              </a:rPr>
              <a:t>Machine code: 0xFE532C23  ·  Store 32-bit value of x5 to memory at (x6 - 8)  ·  S-type split immediate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8595360" cy="20117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Binary: 1111 1110  0101  0011 0  010  1100 0  010 0011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1207008"/>
            <a:ext cx="1869948" cy="512064"/>
          </a:xfrm>
          <a:prstGeom prst="rect">
            <a:avLst/>
          </a:prstGeom>
          <a:solidFill>
            <a:srgbClr val="0315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1833372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1111111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504005"/>
            <a:ext cx="1833372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imm[11:5]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144268" y="1207008"/>
            <a:ext cx="1330452" cy="512064"/>
          </a:xfrm>
          <a:prstGeom prst="rect">
            <a:avLst/>
          </a:prstGeom>
          <a:solidFill>
            <a:srgbClr val="1A081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62556" y="1234440"/>
            <a:ext cx="1293876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62556" y="1504005"/>
            <a:ext cx="1293876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rs2=x5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493008" y="1207008"/>
            <a:ext cx="1330452" cy="512064"/>
          </a:xfrm>
          <a:prstGeom prst="rect">
            <a:avLst/>
          </a:prstGeom>
          <a:solidFill>
            <a:srgbClr val="0712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1234440"/>
            <a:ext cx="1293876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00110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11296" y="1504005"/>
            <a:ext cx="1293876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rs1=x6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841748" y="1207008"/>
            <a:ext cx="790956" cy="512064"/>
          </a:xfrm>
          <a:prstGeom prst="rect">
            <a:avLst/>
          </a:prstGeom>
          <a:solidFill>
            <a:srgbClr val="120A1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0036" y="1234440"/>
            <a:ext cx="754380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60036" y="1504005"/>
            <a:ext cx="754380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funct3=SW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650992" y="1207008"/>
            <a:ext cx="1330452" cy="512064"/>
          </a:xfrm>
          <a:prstGeom prst="rect">
            <a:avLst/>
          </a:prstGeom>
          <a:solidFill>
            <a:srgbClr val="0315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1234440"/>
            <a:ext cx="1293876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0" y="1504005"/>
            <a:ext cx="1293876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imm[4:0]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999732" y="1207008"/>
            <a:ext cx="1869948" cy="512064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18020" y="1234440"/>
            <a:ext cx="1833372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0100011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018020" y="1504005"/>
            <a:ext cx="1833372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4BF"/>
                </a:solidFill>
              </a:rPr>
              <a:t>opcode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6032" y="1847088"/>
            <a:ext cx="8631936" cy="1005840"/>
          </a:xfrm>
          <a:prstGeom prst="rect">
            <a:avLst/>
          </a:prstGeom>
          <a:solidFill>
            <a:srgbClr val="0D2233"/>
          </a:solidFill>
          <a:ln w="12700">
            <a:solidFill>
              <a:srgbClr val="10B981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" y="1901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S-type Immediate Reconstruction (split across two fields):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" y="2176272"/>
            <a:ext cx="8229600" cy="640080"/>
          </a:xfrm>
          <a:prstGeom prst="rect">
            <a:avLst/>
          </a:prstGeom>
          <a:solidFill>
            <a:srgbClr val="020B12"/>
          </a:solidFill>
          <a:ln w="12700">
            <a:solidFill>
              <a:srgbClr val="3D5468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3776" y="2267712"/>
            <a:ext cx="8028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imm[11:5] = instr[31:25] = 1111111   (upper 7 bits)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imm[4:0]  = instr[11:7]  = 11000     (lower 5 bits)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Concatenate: {imm[11:5], imm[4:0]} = 1111111 11000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= 111111111000  (12-bit two's complement)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= -8  (0xFFFFFFF8 sign-extended to 32 bits)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2962656"/>
            <a:ext cx="4242816" cy="603504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2962656"/>
            <a:ext cx="4242816" cy="256032"/>
          </a:xfrm>
          <a:prstGeom prst="rect">
            <a:avLst/>
          </a:prstGeom>
          <a:solidFill>
            <a:srgbClr val="0F1E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299923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24128" y="29992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 = 0100011 = 0x23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163824" y="29992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</a:rPr>
              <a:t>→ STORE class (S-type)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7472" y="3273552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</a:rPr>
              <a:t>Effective: → STORE class (S-type)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3657600"/>
            <a:ext cx="4242816" cy="603504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3657600"/>
            <a:ext cx="4242816" cy="256032"/>
          </a:xfrm>
          <a:prstGeom prst="rect">
            <a:avLst/>
          </a:prstGeom>
          <a:solidFill>
            <a:srgbClr val="0F1E2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" y="36941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24128" y="36941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funct3 = 010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163824" y="36941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</a:rPr>
              <a:t>→ SW (store 32-bit word)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7472" y="3968496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</a:rPr>
              <a:t>Effective: → SW (store 32-bit word)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" y="4352544"/>
            <a:ext cx="4242816" cy="603504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6032" y="4352544"/>
            <a:ext cx="4242816" cy="256032"/>
          </a:xfrm>
          <a:prstGeom prst="rect">
            <a:avLst/>
          </a:prstGeom>
          <a:solidFill>
            <a:srgbClr val="0F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43891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24128" y="43891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rs1[19:15] = 00110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163824" y="4389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</a:rPr>
              <a:t>→ base address register x6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47472" y="4663440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</a:rPr>
              <a:t>Effective: → base address register x6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2962656"/>
            <a:ext cx="4242816" cy="603504"/>
          </a:xfrm>
          <a:prstGeom prst="rect">
            <a:avLst/>
          </a:prstGeom>
          <a:solidFill>
            <a:srgbClr val="0C1520"/>
          </a:solidFill>
          <a:ln w="12700">
            <a:solidFill>
              <a:srgbClr val="F43F5E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63440" y="2962656"/>
            <a:ext cx="4242816" cy="256032"/>
          </a:xfrm>
          <a:prstGeom prst="rect">
            <a:avLst/>
          </a:prstGeom>
          <a:solidFill>
            <a:srgbClr val="0F1E2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299923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31536" y="29992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rs2[24:20] = 00101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571232" y="29992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</a:rPr>
              <a:t>→ data to store is from x5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54880" y="3273552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</a:rPr>
              <a:t>Effective: → data to store is from x5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3657600"/>
            <a:ext cx="4242816" cy="603504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3657600"/>
            <a:ext cx="4242816" cy="256032"/>
          </a:xfrm>
          <a:prstGeom prst="rect">
            <a:avLst/>
          </a:prstGeom>
          <a:solidFill>
            <a:srgbClr val="0F1E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36592" y="36941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431536" y="36941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Reconstruct imm = -8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571232" y="36941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</a:rPr>
              <a:t>→ offset from base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754880" y="3968496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</a:rPr>
              <a:t>Effective: → offset from base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63440" y="4352544"/>
            <a:ext cx="4242816" cy="603504"/>
          </a:xfrm>
          <a:prstGeom prst="rect">
            <a:avLst/>
          </a:prstGeom>
          <a:solidFill>
            <a:srgbClr val="0C1520"/>
          </a:solidFill>
          <a:ln w="12700">
            <a:solidFill>
              <a:srgbClr val="3DD68C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63440" y="4352544"/>
            <a:ext cx="4242816" cy="256032"/>
          </a:xfrm>
          <a:prstGeom prst="rect">
            <a:avLst/>
          </a:prstGeom>
          <a:solidFill>
            <a:srgbClr val="0F1E2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36592" y="43891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431536" y="43891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 = x6 + (-8)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571232" y="4389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8F5"/>
                </a:solidFill>
              </a:rPr>
              <a:t>Mem32[EA] = x5  (write 4 bytes)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754880" y="4663440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</a:rPr>
              <a:t>Effective: Mem32[EA] = x5  (write 4 bytes)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8BA4BF"/>
          </a:solidFill>
          <a:ln w="12700">
            <a:solidFill>
              <a:srgbClr val="8BA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Pseudo-Instructions — Assembler Shortcuts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4BF"/>
                </a:solidFill>
              </a:rPr>
              <a:t>These are NOT in the hardware. The assembler expands them into real RV32I instructions before encoding.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8595360" cy="20117"/>
          </a:xfrm>
          <a:prstGeom prst="rect">
            <a:avLst/>
          </a:prstGeom>
          <a:solidFill>
            <a:srgbClr val="8BA4BF"/>
          </a:solidFill>
          <a:ln w="12700">
            <a:solidFill>
              <a:srgbClr val="8BA4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32688"/>
            <a:ext cx="1417320" cy="237744"/>
          </a:xfrm>
          <a:prstGeom prst="rect">
            <a:avLst/>
          </a:prstGeom>
          <a:solidFill>
            <a:srgbClr val="8BA4BF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93268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91640" y="932688"/>
            <a:ext cx="2084832" cy="237744"/>
          </a:xfrm>
          <a:prstGeom prst="rect">
            <a:avLst/>
          </a:prstGeom>
          <a:solidFill>
            <a:srgbClr val="8BA4BF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46504" y="93268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Expands To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94760" y="932688"/>
            <a:ext cx="914400" cy="237744"/>
          </a:xfrm>
          <a:prstGeom prst="rect">
            <a:avLst/>
          </a:prstGeom>
          <a:solidFill>
            <a:srgbClr val="8BA4BF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9624" y="9326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(NOP)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27448" y="932688"/>
            <a:ext cx="3081528" cy="237744"/>
          </a:xfrm>
          <a:prstGeom prst="rect">
            <a:avLst/>
          </a:prstGeom>
          <a:solidFill>
            <a:srgbClr val="8BA4BF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932688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1188720"/>
            <a:ext cx="1417320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1188720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691640" y="1188720"/>
            <a:ext cx="2084832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46504" y="1188720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 x0, x0, 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94760" y="1188720"/>
            <a:ext cx="914400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9624" y="118872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0x00000013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27448" y="1188720"/>
            <a:ext cx="3081528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1188720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operation — writes x0 (discarded)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1457554"/>
            <a:ext cx="1417320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1457554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rd, 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691640" y="1457554"/>
            <a:ext cx="2084832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46504" y="1457554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 rd, rs, 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94760" y="1457554"/>
            <a:ext cx="914400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9624" y="145755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27448" y="1457554"/>
            <a:ext cx="3081528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1457554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register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1726387"/>
            <a:ext cx="1417320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" y="1726387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 rd, imm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691640" y="1726387"/>
            <a:ext cx="2084832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46504" y="1726387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LUI+ADDI (or just ADDI)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794760" y="1726387"/>
            <a:ext cx="914400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9624" y="1726387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27448" y="1726387"/>
            <a:ext cx="3081528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1726387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any 32-bit immediate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6032" y="1995221"/>
            <a:ext cx="1417320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1995221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rd, rs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691640" y="1995221"/>
            <a:ext cx="2084832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46504" y="1995221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XORI rd, rs, -1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794760" y="1995221"/>
            <a:ext cx="914400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9624" y="1995221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27448" y="1995221"/>
            <a:ext cx="3081528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82312" y="1995221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 = 0xFFF in 12-bit signed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032" y="2264054"/>
            <a:ext cx="1417320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2264054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 rd, rs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691640" y="2264054"/>
            <a:ext cx="2084832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46504" y="2264054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rd, x0, rs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794760" y="2264054"/>
            <a:ext cx="914400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9624" y="226405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varies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27448" y="2264054"/>
            <a:ext cx="3081528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82312" y="2264054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Negate: rd = 0 - rs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56032" y="2532888"/>
            <a:ext cx="1417320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0896" y="253288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SEQZ rd, rs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691640" y="2532888"/>
            <a:ext cx="2084832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46504" y="2532888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SLTIU rd, rs, 1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794760" y="2532888"/>
            <a:ext cx="914400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9624" y="253288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varies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27448" y="2532888"/>
            <a:ext cx="3081528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82312" y="2532888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if equal zero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56032" y="2801722"/>
            <a:ext cx="1417320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0896" y="2801722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SNEZ rd, rs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691640" y="2801722"/>
            <a:ext cx="2084832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46504" y="2801722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SLTU rd, x0, rs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794760" y="2801722"/>
            <a:ext cx="914400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49624" y="280172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varies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727448" y="2801722"/>
            <a:ext cx="3081528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82312" y="2801722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if not equal zero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56032" y="3070555"/>
            <a:ext cx="1417320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0896" y="3070555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BEQZ rs, lbl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691640" y="3070555"/>
            <a:ext cx="2084832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746504" y="3070555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BEQ rs, x0, lbl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794760" y="3070555"/>
            <a:ext cx="914400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49624" y="3070555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varies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727448" y="3070555"/>
            <a:ext cx="3081528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82312" y="3070555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if rs == 0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56032" y="3339389"/>
            <a:ext cx="1417320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10896" y="3339389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BNEZ rs, lbl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1691640" y="3339389"/>
            <a:ext cx="2084832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746504" y="3339389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BNE rs, x0, lbl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794760" y="3339389"/>
            <a:ext cx="914400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849624" y="3339389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varies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727448" y="3339389"/>
            <a:ext cx="3081528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82312" y="3339389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if rs != 0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256032" y="3608222"/>
            <a:ext cx="1417320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10896" y="3608222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offset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1691640" y="3608222"/>
            <a:ext cx="2084832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746504" y="3608222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JAL x0, offset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3794760" y="3608222"/>
            <a:ext cx="914400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849624" y="360822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varies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727448" y="3608222"/>
            <a:ext cx="3081528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782312" y="3608222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Jump, discard return address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256032" y="3877056"/>
            <a:ext cx="1417320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10896" y="3877056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JR rs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1691640" y="3877056"/>
            <a:ext cx="2084832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746504" y="3877056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JALR x0, rs, 0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3794760" y="3877056"/>
            <a:ext cx="914400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849624" y="387705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varies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727448" y="3877056"/>
            <a:ext cx="3081528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782312" y="3877056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 to register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256032" y="4145890"/>
            <a:ext cx="1417320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10896" y="4145890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1691640" y="4145890"/>
            <a:ext cx="2084832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746504" y="4145890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JALR x0, x1, 0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3794760" y="4145890"/>
            <a:ext cx="914400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849624" y="414589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varies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4727448" y="4145890"/>
            <a:ext cx="3081528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782312" y="4145890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Return: jump to address in ra (x1)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256032" y="4414723"/>
            <a:ext cx="1417320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10896" y="4414723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func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1691640" y="4414723"/>
            <a:ext cx="2084832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746504" y="4414723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AUIPC x1, hi(func)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JALR x1, lo(func)(x1)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3794760" y="4414723"/>
            <a:ext cx="914400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849624" y="4414723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varies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4727448" y="4414723"/>
            <a:ext cx="3081528" cy="246888"/>
          </a:xfrm>
          <a:prstGeom prst="rect">
            <a:avLst/>
          </a:prstGeom>
          <a:solidFill>
            <a:srgbClr val="0C1520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782312" y="4414723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call (2 instrs)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256032" y="4683557"/>
            <a:ext cx="1417320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10896" y="4683557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rd, symbol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1691640" y="4683557"/>
            <a:ext cx="2084832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746504" y="4683557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AUIPC rd, hi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 rd, rd, lo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3794760" y="4683557"/>
            <a:ext cx="914400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849624" y="4683557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varies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4727448" y="4683557"/>
            <a:ext cx="3081528" cy="246888"/>
          </a:xfrm>
          <a:prstGeom prst="rect">
            <a:avLst/>
          </a:prstGeom>
          <a:solidFill>
            <a:srgbClr val="0F1E2E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782312" y="4683557"/>
            <a:ext cx="2990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address of symbol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D580"/>
          </a:solidFill>
          <a:ln w="12700">
            <a:solidFill>
              <a:srgbClr val="FFD5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Encoding Examples — Assembly to Machine Code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4BF"/>
                </a:solidFill>
              </a:rPr>
              <a:t>How to manually encode any RV32I instruction from the ISA spec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8595360" cy="20117"/>
          </a:xfrm>
          <a:prstGeom prst="rect">
            <a:avLst/>
          </a:prstGeom>
          <a:solidFill>
            <a:srgbClr val="FFD580"/>
          </a:solidFill>
          <a:ln w="12700">
            <a:solidFill>
              <a:srgbClr val="FFD5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32688"/>
            <a:ext cx="4242816" cy="1261872"/>
          </a:xfrm>
          <a:prstGeom prst="rect">
            <a:avLst/>
          </a:prstGeom>
          <a:solidFill>
            <a:srgbClr val="0C1520"/>
          </a:solidFill>
          <a:ln w="12700">
            <a:solidFill>
              <a:srgbClr val="F43F5E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32688"/>
            <a:ext cx="4242816" cy="237744"/>
          </a:xfrm>
          <a:prstGeom prst="rect">
            <a:avLst/>
          </a:prstGeom>
          <a:solidFill>
            <a:srgbClr val="0F1E2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960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R1, R2, R3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5728" y="9601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0x00310033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39312" y="96012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3F5E"/>
                </a:solidFill>
              </a:rPr>
              <a:t>R-type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" y="120700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0000000_00011_00010_000_00001_0110011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9184" y="1444752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funct7=0000000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29184" y="1586484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rs2=x3=00011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29184" y="1728216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rs1=x2=00010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29184" y="1869948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funct3=000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29184" y="2011680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rd=x1=00001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29184" y="2153412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opcode=0110011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256032" y="2322576"/>
            <a:ext cx="4242816" cy="1261872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322576"/>
            <a:ext cx="4242816" cy="237744"/>
          </a:xfrm>
          <a:prstGeom prst="rect">
            <a:avLst/>
          </a:prstGeom>
          <a:solidFill>
            <a:srgbClr val="0F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3500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 x5, x6, -4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95728" y="23500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0xFFC30293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39312" y="235000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B82F6"/>
                </a:solidFill>
              </a:rPr>
              <a:t>I-type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" y="2596896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111111111100_00110_000_00101_0010011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9184" y="2834640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imm[11:0]=-4=FFC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329184" y="2976372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rs1=x6=00110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329184" y="3118104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funct3=000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329184" y="3259836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rd=x5=00101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329184" y="3401568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opcode=0010011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256032" y="3712464"/>
            <a:ext cx="4242816" cy="1261872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3712464"/>
            <a:ext cx="4242816" cy="237744"/>
          </a:xfrm>
          <a:prstGeom prst="rect">
            <a:avLst/>
          </a:prstGeom>
          <a:solidFill>
            <a:srgbClr val="0F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3739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LW x14, 12(x2)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395728" y="37398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0x00C12703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39312" y="373989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B82F6"/>
                </a:solidFill>
              </a:rPr>
              <a:t>I-type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9184" y="3986784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000000001100_00010_010_01110_0000011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9184" y="4224528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imm=+12=00C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329184" y="4366260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rs1=x2=00010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329184" y="4507992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funct3=010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329184" y="4649724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rd=x14=01110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329184" y="4791456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opcode=0000011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4663440" y="932688"/>
            <a:ext cx="4242816" cy="1261872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932688"/>
            <a:ext cx="4242816" cy="237744"/>
          </a:xfrm>
          <a:prstGeom prst="rect">
            <a:avLst/>
          </a:prstGeom>
          <a:solidFill>
            <a:srgbClr val="0F1E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960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 x5, -8(x6)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03136" y="9601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0xFE532C23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46720" y="96012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0B981"/>
                </a:solidFill>
              </a:rPr>
              <a:t>S-type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36592" y="120700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1111111_00101_00110_010_11000_0100011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36592" y="1444752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imm[11:5]=1111111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4736592" y="1586484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rs2=x5=00101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4736592" y="1728216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rs1=x6=00110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4736592" y="1869948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funct3=010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4736592" y="2011680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imm[4:0]=11000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4736592" y="2153412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opcode=0100011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4663440" y="2322576"/>
            <a:ext cx="4242816" cy="1261872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63440" y="2322576"/>
            <a:ext cx="4242816" cy="237744"/>
          </a:xfrm>
          <a:prstGeom prst="rect">
            <a:avLst/>
          </a:prstGeom>
          <a:solidFill>
            <a:srgbClr val="0F1E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23500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BEQ x10,x11,+16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03136" y="23500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0x00B50863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046720" y="235000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9E0B"/>
                </a:solidFill>
              </a:rPr>
              <a:t>B-type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36592" y="2596896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0_000000_01011_01010_000_1000_0_1100011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736592" y="2834640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imm[12|10:5]=0000000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4736592" y="2976372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rs2=x11</a:t>
            </a:r>
            <a:endParaRPr lang="en-US" sz="780" dirty="0"/>
          </a:p>
        </p:txBody>
      </p:sp>
      <p:sp>
        <p:nvSpPr>
          <p:cNvPr id="60" name="Text 58"/>
          <p:cNvSpPr/>
          <p:nvPr/>
        </p:nvSpPr>
        <p:spPr>
          <a:xfrm>
            <a:off x="4736592" y="3118104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rs1=x10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4736592" y="3259836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funct3=000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4736592" y="3401568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imm[4:1|11]=10000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4736592" y="3543300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opcode=1100011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4663440" y="3712464"/>
            <a:ext cx="4242816" cy="1261872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663440" y="3712464"/>
            <a:ext cx="4242816" cy="237744"/>
          </a:xfrm>
          <a:prstGeom prst="rect">
            <a:avLst/>
          </a:prstGeom>
          <a:solidFill>
            <a:srgbClr val="0F1E2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36592" y="3739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LUI x10, 0x12345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803136" y="37398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0x123450B7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046720" y="373989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55F7"/>
                </a:solidFill>
              </a:rPr>
              <a:t>U-type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736592" y="3986784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00010010001101000101_01010_0110111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736592" y="4224528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imm[31:12]=0x12345=00010010001101000101</a:t>
            </a:r>
            <a:endParaRPr lang="en-US" sz="780" dirty="0"/>
          </a:p>
        </p:txBody>
      </p:sp>
      <p:sp>
        <p:nvSpPr>
          <p:cNvPr id="71" name="Text 69"/>
          <p:cNvSpPr/>
          <p:nvPr/>
        </p:nvSpPr>
        <p:spPr>
          <a:xfrm>
            <a:off x="4736592" y="4366260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rd=x10=01010</a:t>
            </a:r>
            <a:endParaRPr lang="en-US" sz="780" dirty="0"/>
          </a:p>
        </p:txBody>
      </p:sp>
      <p:sp>
        <p:nvSpPr>
          <p:cNvPr id="72" name="Text 70"/>
          <p:cNvSpPr/>
          <p:nvPr/>
        </p:nvSpPr>
        <p:spPr>
          <a:xfrm>
            <a:off x="4736592" y="4507992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A4BF"/>
                </a:solidFill>
              </a:rPr>
              <a:t>• opcode=0110111</a:t>
            </a:r>
            <a:endParaRPr lang="en-US" sz="7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Decoding Algorithm — Step by Step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4BF"/>
                </a:solidFill>
              </a:rPr>
              <a:t>Apply this procedure to decode any RV32I 32-bit machine word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8595360" cy="20117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914400"/>
            <a:ext cx="21945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0" y="96926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Read bits[6:0]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= opcode field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1298448"/>
            <a:ext cx="9144" cy="237744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536192"/>
            <a:ext cx="2651760" cy="512064"/>
          </a:xfrm>
          <a:prstGeom prst="diamond">
            <a:avLst/>
          </a:prstGeom>
          <a:solidFill>
            <a:srgbClr val="0F1E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62763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9E0B"/>
                </a:solidFill>
              </a:rPr>
              <a:t>opcode[1:0]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9E0B"/>
                </a:solidFill>
              </a:rPr>
              <a:t>== 11 ?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0" y="16824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B923C"/>
                </a:solidFill>
              </a:rPr>
              <a:t>NO → Compressed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FB923C"/>
                </a:solidFill>
              </a:rPr>
              <a:t>(RV32C ext)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97880" y="1792224"/>
            <a:ext cx="502920" cy="9144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048256"/>
            <a:ext cx="9144" cy="237744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0665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</a:rPr>
              <a:t>YES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0" y="2286000"/>
            <a:ext cx="2194560" cy="384048"/>
          </a:xfrm>
          <a:prstGeom prst="rect">
            <a:avLst/>
          </a:prstGeom>
          <a:solidFill>
            <a:srgbClr val="3D5468"/>
          </a:solidFill>
          <a:ln w="12700">
            <a:solidFill>
              <a:srgbClr val="3D5468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66160" y="234086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Look up opcode[6:2]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in format table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2670048"/>
            <a:ext cx="9144" cy="237744"/>
          </a:xfrm>
          <a:prstGeom prst="line">
            <a:avLst/>
          </a:prstGeom>
          <a:noFill/>
          <a:ln w="19050">
            <a:solidFill>
              <a:srgbClr val="3D54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907792"/>
            <a:ext cx="8631936" cy="237744"/>
          </a:xfrm>
          <a:prstGeom prst="rect">
            <a:avLst/>
          </a:prstGeom>
          <a:solidFill>
            <a:srgbClr val="0F1E2E"/>
          </a:solidFill>
          <a:ln w="12700">
            <a:solidFill>
              <a:srgbClr val="3D54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907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</a:rPr>
              <a:t>Identify Format: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2907792"/>
            <a:ext cx="1335024" cy="23774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9077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R-type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23544" y="3145536"/>
            <a:ext cx="9144" cy="164592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3310128"/>
            <a:ext cx="1335024" cy="804672"/>
          </a:xfrm>
          <a:prstGeom prst="rect">
            <a:avLst/>
          </a:prstGeom>
          <a:solidFill>
            <a:srgbClr val="0C1520"/>
          </a:solidFill>
          <a:ln w="12700">
            <a:solidFill>
              <a:srgbClr val="F43F5E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7472" y="3364992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read rs1,rs2,rd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funct3,funct7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compute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664208" y="2907792"/>
            <a:ext cx="1335024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64208" y="29077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I-type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31720" y="3145536"/>
            <a:ext cx="9144" cy="164592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4208" y="3310128"/>
            <a:ext cx="1335024" cy="804672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755648" y="3364992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read rs1,rd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funct3,imm[11:0]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sign-extend imm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072384" y="2907792"/>
            <a:ext cx="1335024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72384" y="29077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S-type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39896" y="3145536"/>
            <a:ext cx="9144" cy="16459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72384" y="3310128"/>
            <a:ext cx="1335024" cy="804672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163824" y="3364992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read rs1,rs2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funct3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recombine imm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80560" y="2907792"/>
            <a:ext cx="133502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29077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B-type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48072" y="3145536"/>
            <a:ext cx="9144" cy="16459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80560" y="3310128"/>
            <a:ext cx="1335024" cy="804672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0" y="3364992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read rs1,rs2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funct3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scrambled imm×2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88736" y="2907792"/>
            <a:ext cx="1335024" cy="23774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8736" y="29077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U-type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56248" y="3145536"/>
            <a:ext cx="9144" cy="164592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88736" y="3310128"/>
            <a:ext cx="1335024" cy="804672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980176" y="3364992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read rd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imm[31:12]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shift left 12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296912" y="2907792"/>
            <a:ext cx="1335024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96912" y="29077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J-type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964424" y="3145536"/>
            <a:ext cx="9144" cy="164592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96912" y="3310128"/>
            <a:ext cx="1335024" cy="804672"/>
          </a:xfrm>
          <a:prstGeom prst="rect">
            <a:avLst/>
          </a:prstGeom>
          <a:solidFill>
            <a:srgbClr val="0C1520"/>
          </a:solidFill>
          <a:ln w="12700">
            <a:solidFill>
              <a:srgbClr val="06B6D4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388352" y="3364992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read rd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scrambled imm×2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PC-relative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0" y="4114800"/>
            <a:ext cx="9144" cy="164592"/>
          </a:xfrm>
          <a:prstGeom prst="line">
            <a:avLst/>
          </a:prstGeom>
          <a:noFill/>
          <a:ln w="19050">
            <a:solidFill>
              <a:srgbClr val="3DD68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74720" y="4279392"/>
            <a:ext cx="2194560" cy="347472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566160" y="4334256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Extract register addresses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rd, rs1, rs2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0" y="4626864"/>
            <a:ext cx="9144" cy="164592"/>
          </a:xfrm>
          <a:prstGeom prst="line">
            <a:avLst/>
          </a:prstGeom>
          <a:noFill/>
          <a:ln w="19050">
            <a:solidFill>
              <a:srgbClr val="3DD68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74720" y="4791456"/>
            <a:ext cx="2194560" cy="310896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3566160" y="4846320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Execute / Update PC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Quick Reference Card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4BF"/>
                </a:solidFill>
              </a:rPr>
              <a:t>Everything you need to decode any RV32I instruction from scratch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8595360" cy="20117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96112"/>
            <a:ext cx="4242816" cy="896112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96112"/>
            <a:ext cx="502920" cy="8961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896112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080F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0392" y="96926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All instructions are exactly 32 bits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50392" y="1298448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Fixed-width: fetch is always 4 bytes. PC increments by 4 each cycle.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896112"/>
            <a:ext cx="4242816" cy="896112"/>
          </a:xfrm>
          <a:prstGeom prst="rect">
            <a:avLst/>
          </a:prstGeom>
          <a:solidFill>
            <a:srgbClr val="0C1520"/>
          </a:solidFill>
          <a:ln w="12700">
            <a:solidFill>
              <a:srgbClr val="F43F5E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96112"/>
            <a:ext cx="502920" cy="89611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896112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080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57800" y="96926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 formats — opcode[6:0] identifies which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57800" y="1298448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0x33=R, 0x13/0x03/0x67=I, 0x23=S, 0x63=B, 0x37/0x17=U, 0x6F=J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1920240"/>
            <a:ext cx="4242816" cy="896112"/>
          </a:xfrm>
          <a:prstGeom prst="rect">
            <a:avLst/>
          </a:prstGeom>
          <a:solidFill>
            <a:srgbClr val="0C1520"/>
          </a:solidFill>
          <a:ln w="12700">
            <a:solidFill>
              <a:srgbClr val="10B981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1920240"/>
            <a:ext cx="502920" cy="8961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92024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080F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" y="199339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rs1, rs2, funct3 stay in fixed positions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0392" y="2322576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Hardware decoder reads these bits the same way regardless of format.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920240"/>
            <a:ext cx="4242816" cy="896112"/>
          </a:xfrm>
          <a:prstGeom prst="rect">
            <a:avLst/>
          </a:prstGeom>
          <a:solidFill>
            <a:srgbClr val="0C1520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920240"/>
            <a:ext cx="502920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92024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080F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57800" y="199339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Immediates always sign-extend from bit[31]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57800" y="2322576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Every format puts the sign bit at instr[31]. One extender for all.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2944368"/>
            <a:ext cx="4242816" cy="896112"/>
          </a:xfrm>
          <a:prstGeom prst="rect">
            <a:avLst/>
          </a:prstGeom>
          <a:solidFill>
            <a:srgbClr val="0C1520"/>
          </a:solidFill>
          <a:ln w="12700">
            <a:solidFill>
              <a:srgbClr val="A855F7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2944368"/>
            <a:ext cx="502920" cy="8961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944368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080F"/>
                </a:solidFill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50392" y="301752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 and J immediates have implicit ×2 scale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0392" y="3346704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imm[0] is always 0 — branch/jump targets are 2-byte aligned.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944368"/>
            <a:ext cx="4242816" cy="896112"/>
          </a:xfrm>
          <a:prstGeom prst="rect">
            <a:avLst/>
          </a:prstGeom>
          <a:solidFill>
            <a:srgbClr val="0C1520"/>
          </a:solidFill>
          <a:ln w="12700">
            <a:solidFill>
              <a:srgbClr val="06B6D4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944368"/>
            <a:ext cx="502920" cy="8961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944368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080F"/>
                </a:solidFill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57800" y="301752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funct7[5] differentiates ADD/SUB, SRL/SRA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57800" y="3346704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Two instructions sharing opcode+funct3 flip only one bit of funct7.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3968496"/>
            <a:ext cx="4242816" cy="896112"/>
          </a:xfrm>
          <a:prstGeom prst="rect">
            <a:avLst/>
          </a:prstGeom>
          <a:solidFill>
            <a:srgbClr val="0C1520"/>
          </a:solidFill>
          <a:ln w="12700">
            <a:solidFill>
              <a:srgbClr val="F43F5E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6032" y="3968496"/>
            <a:ext cx="502920" cy="89611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3968496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080F"/>
                </a:solidFill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50392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x0 is always 0 — writes are discarded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50392" y="4370832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NOP = ADDI x0,x0,0.  MV = ADDI rd,rs,0.  Key for pseudo-instructions.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3968496"/>
            <a:ext cx="4242816" cy="896112"/>
          </a:xfrm>
          <a:prstGeom prst="rect">
            <a:avLst/>
          </a:prstGeom>
          <a:solidFill>
            <a:srgbClr val="0C1520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3968496"/>
            <a:ext cx="502920" cy="8961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968496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080F"/>
                </a:solidFill>
              </a:rPr>
              <a:t>08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257800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47 base instructions, easily extensible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257800" y="4370832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F"/>
                </a:solidFill>
              </a:rPr>
              <a:t>RV32I is the minimal starting point. M/A/F/D/V/C extensions add capabilities.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80F"/>
                </a:solidFill>
              </a:rPr>
              <a:t>RISC-V RV32I  ·  6 Formats  ·  47 Instructions  ·  32 Registers  ·  Fixed 32-bit encoding  ·  Open Standard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5059</Words>
  <Application>Microsoft Office PowerPoint</Application>
  <PresentationFormat>On-screen Show (16:9)</PresentationFormat>
  <Paragraphs>1261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RISC-V RV32I Instruction Set Architecture — Complete Reference</dc:title>
  <dc:subject>PptxGenJS Presentation</dc:subject>
  <dc:creator>PptxGenJS</dc:creator>
  <cp:lastModifiedBy>Prabakaran Elaiyappan</cp:lastModifiedBy>
  <cp:revision>2</cp:revision>
  <dcterms:created xsi:type="dcterms:W3CDTF">2026-04-05T18:40:57Z</dcterms:created>
  <dcterms:modified xsi:type="dcterms:W3CDTF">2026-04-05T13:27:36Z</dcterms:modified>
</cp:coreProperties>
</file>